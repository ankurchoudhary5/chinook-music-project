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73" r:id="rId4"/>
    <p:sldId id="272" r:id="rId5"/>
    <p:sldId id="274" r:id="rId6"/>
    <p:sldId id="271" r:id="rId7"/>
    <p:sldId id="270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9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206" autoAdjust="0"/>
  </p:normalViewPr>
  <p:slideViewPr>
    <p:cSldViewPr snapToGrid="0">
      <p:cViewPr>
        <p:scale>
          <a:sx n="80" d="100"/>
          <a:sy n="80" d="100"/>
        </p:scale>
        <p:origin x="3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6016E-11F8-4A52-BB7B-8FC46C94AD00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04A26A-317D-4605-A6EA-D2D433CFD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171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cb9fc06b3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cb9fc06b3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8066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CADCFC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C1F3-A290-4671-A5F4-66E1A877C1C1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6479-06FF-4344-832C-1497A309C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05810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C1F3-A290-4671-A5F4-66E1A877C1C1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6479-06FF-4344-832C-1497A309C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6645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CADCFC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C1F3-A290-4671-A5F4-66E1A877C1C1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6479-06FF-4344-832C-1497A309C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83405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C1F3-A290-4671-A5F4-66E1A877C1C1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6479-06FF-4344-832C-1497A309C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9954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C1F3-A290-4671-A5F4-66E1A877C1C1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6479-06FF-4344-832C-1497A309CB58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154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C1F3-A290-4671-A5F4-66E1A877C1C1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6479-06FF-4344-832C-1497A309C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1579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C1F3-A290-4671-A5F4-66E1A877C1C1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6479-06FF-4344-832C-1497A309C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005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CADCFC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C1F3-A290-4671-A5F4-66E1A877C1C1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6479-06FF-4344-832C-1497A309C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225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CADCFC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C885C1F3-A290-4671-A5F4-66E1A877C1C1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6479-06FF-4344-832C-1497A309C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2741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C1F3-A290-4671-A5F4-66E1A877C1C1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6479-06FF-4344-832C-1497A309C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6947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C1F3-A290-4671-A5F4-66E1A877C1C1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6479-06FF-4344-832C-1497A309C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5503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2210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1B2A45"/>
          </a:solidFill>
          <a:ln w="31750" cap="sq">
            <a:solidFill>
              <a:srgbClr val="CADCFC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C885C1F3-A290-4671-A5F4-66E1A877C1C1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CADCFC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58F26479-06FF-4344-832C-1497A309C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1611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D1B2A"/>
            </a:gs>
            <a:gs pos="50000">
              <a:srgbClr val="1B2A45"/>
            </a:gs>
            <a:gs pos="100000">
              <a:srgbClr val="0A162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DarkOverlay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>
              <a:alpha val="7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AB917744-508F-664F-50BE-DF96281FBA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3002" y="981023"/>
            <a:ext cx="9085997" cy="3023418"/>
          </a:xfrm>
          <a:prstGeom prst="rect">
            <a:avLst/>
          </a:prstGeom>
          <a:solidFill>
            <a:srgbClr val="1B2A45">
              <a:alpha val="85000"/>
            </a:srgbClr>
          </a:solidFill>
          <a:ln w="25400" cap="sq">
            <a:solidFill>
              <a:srgbClr val="CADCFC"/>
            </a:solidFill>
            <a:miter lim="800000"/>
          </a:ln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Chinook music store </a:t>
            </a:r>
            <a:r>
              <a:rPr lang="en-US" dirty="0" smtClean="0">
                <a:solidFill>
                  <a:srgbClr val="FFFFFF"/>
                </a:solidFill>
              </a:rPr>
              <a:t>project</a:t>
            </a:r>
            <a:br>
              <a:rPr lang="en-US" dirty="0" smtClean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/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 smtClean="0">
                <a:solidFill>
                  <a:srgbClr val="FFFFFF"/>
                </a:solidFill>
              </a:rPr>
              <a:t>By</a:t>
            </a:r>
            <a:br>
              <a:rPr lang="en-US" dirty="0" smtClean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/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 smtClean="0">
                <a:solidFill>
                  <a:srgbClr val="FFFFFF"/>
                </a:solidFill>
              </a:rPr>
              <a:t>ankur Choudhary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316C423-509D-2413-0052-100ABA6EBF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FFFF"/>
                </a:solidFill>
              </a:rPr>
              <a:t>\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9602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87E79E8-FEC2-852D-F681-C0F531506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6675" y="2133743"/>
            <a:ext cx="10331354" cy="455366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Gill Sans MT (Headings)"/>
              </a:rPr>
              <a:t>Chinook Music Services is a premier brand in the physical music records market, dedicated to delivering musical entertainment worldwide. With a global network of outlets and services, Chinook offers a comprehensive genre experience to its customers, ensuring diverse musical enjoyment for all.</a:t>
            </a:r>
          </a:p>
          <a:p>
            <a:endParaRPr lang="en-IN" sz="2400" dirty="0">
              <a:latin typeface="Gill Sans MT (Headings)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AC57CD83-3AF6-16FE-D4A1-6BBBB609F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2352" y="0"/>
            <a:ext cx="7560000" cy="720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About chinook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8083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567" y="1065981"/>
            <a:ext cx="6008389" cy="5464472"/>
          </a:xfrm>
          <a:noFill/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AC57CD83-3AF6-16FE-D4A1-6BBBB609F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000" y="0"/>
            <a:ext cx="7560000" cy="720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KPI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0419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C57CD83-3AF6-16FE-D4A1-6BBBB609F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-1"/>
            <a:ext cx="7560000" cy="720000"/>
          </a:xfrm>
        </p:spPr>
        <p:txBody>
          <a:bodyPr>
            <a:normAutofit fontScale="90000"/>
          </a:bodyPr>
          <a:lstStyle/>
          <a:p>
            <a:r>
              <a:rPr lang="en-IN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87E79E8-FEC2-852D-F681-C0F531506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6675" y="1624084"/>
            <a:ext cx="10331354" cy="5063319"/>
          </a:xfrm>
        </p:spPr>
        <p:txBody>
          <a:bodyPr>
            <a:normAutofit fontScale="92500" lnSpcReduction="20000"/>
          </a:bodyPr>
          <a:lstStyle/>
          <a:p>
            <a:r>
              <a:rPr lang="en-US" sz="2400" b="1" dirty="0"/>
              <a:t>Key Findings</a:t>
            </a:r>
          </a:p>
          <a:p>
            <a:r>
              <a:rPr lang="en-US" sz="2400" dirty="0"/>
              <a:t>Rock is the dominant genre in USA and globally. </a:t>
            </a:r>
          </a:p>
          <a:p>
            <a:r>
              <a:rPr lang="en-US" sz="2400" dirty="0"/>
              <a:t>USA contributes highest revenue and customer count. </a:t>
            </a:r>
          </a:p>
          <a:p>
            <a:r>
              <a:rPr lang="en-US" sz="2400" dirty="0"/>
              <a:t>Czech Republic shows high revenue potential despite low customer count. </a:t>
            </a:r>
          </a:p>
          <a:p>
            <a:r>
              <a:rPr lang="en-US" sz="2400" dirty="0"/>
              <a:t>22 customers are inactive for more than 3 months. </a:t>
            </a:r>
          </a:p>
          <a:p>
            <a:r>
              <a:rPr lang="en-US" sz="2400" dirty="0"/>
              <a:t>Cross-selling opportunities exist within Rock, Metal, and Alternative &amp; Punk genres. </a:t>
            </a:r>
          </a:p>
          <a:p>
            <a:r>
              <a:rPr lang="en-US" sz="2400" b="1" dirty="0"/>
              <a:t>Business Recommendations</a:t>
            </a:r>
          </a:p>
          <a:p>
            <a:r>
              <a:rPr lang="en-US" sz="2400" dirty="0"/>
              <a:t>Increase marketing in high-value regions. </a:t>
            </a:r>
          </a:p>
          <a:p>
            <a:r>
              <a:rPr lang="en-US" sz="2400" dirty="0"/>
              <a:t>Launch win-back campaigns for inactive customers. </a:t>
            </a:r>
          </a:p>
          <a:p>
            <a:r>
              <a:rPr lang="en-US" sz="2400" dirty="0"/>
              <a:t>Promote Rock albums and artists aggressively. </a:t>
            </a:r>
          </a:p>
          <a:p>
            <a:r>
              <a:rPr lang="en-US" sz="2400" dirty="0"/>
              <a:t>Expand customer acquisition in underrepresented countries. </a:t>
            </a:r>
          </a:p>
          <a:p>
            <a:r>
              <a:rPr lang="en-US" sz="2400" dirty="0"/>
              <a:t>This immediately makes the report look professional.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614600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C57CD83-3AF6-16FE-D4A1-6BBBB609F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-1"/>
            <a:ext cx="7560000" cy="720000"/>
          </a:xfrm>
        </p:spPr>
        <p:txBody>
          <a:bodyPr>
            <a:normAutofit fontScale="90000"/>
          </a:bodyPr>
          <a:lstStyle/>
          <a:p>
            <a:pPr>
              <a:spcAft>
                <a:spcPts val="600"/>
              </a:spcAft>
            </a:pPr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87E79E8-FEC2-852D-F681-C0F531506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6675" y="1624084"/>
            <a:ext cx="10331354" cy="5063319"/>
          </a:xfrm>
        </p:spPr>
        <p:txBody>
          <a:bodyPr>
            <a:normAutofit/>
          </a:bodyPr>
          <a:lstStyle/>
          <a:p>
            <a:r>
              <a:rPr lang="en-US" sz="2400" dirty="0"/>
              <a:t>Chinook Music Services is a premier brand in the physical music records market, dedicated to delivering musical entertainment worldwide. With a global network of outlets and services, Chinook offers a comprehensive genre experience to its customers, ensuring diverse musical enjoyment for all.</a:t>
            </a:r>
          </a:p>
          <a:p>
            <a:endParaRPr lang="en-IN" sz="2400" dirty="0"/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4641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" name="Rectangle 80">
            <a:extLst>
              <a:ext uri="{FF2B5EF4-FFF2-40B4-BE49-F238E27FC236}">
                <a16:creationId xmlns="" xmlns:a16="http://schemas.microsoft.com/office/drawing/2014/main" id="{665DBBEF-238B-476B-96AB-8AAC3224ECE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en-US" b="1" smtClean="0"/>
              <a:t>Problem Statement</a:t>
            </a:r>
            <a:endParaRPr lang="en-US" b="1" dirty="0"/>
          </a:p>
        </p:txBody>
      </p:sp>
      <p:pic>
        <p:nvPicPr>
          <p:cNvPr id="79" name="Google Shape;79;p17" descr="A screenshot of a computer  AI-generated content may be incorrect.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023582" y="914400"/>
            <a:ext cx="10768083" cy="5698018"/>
          </a:xfrm>
          <a:prstGeom prst="rect">
            <a:avLst/>
          </a:prstGeom>
          <a:noFill/>
        </p:spPr>
      </p:pic>
      <p:sp>
        <p:nvSpPr>
          <p:cNvPr id="9" name="Title 1">
            <a:extLst>
              <a:ext uri="{FF2B5EF4-FFF2-40B4-BE49-F238E27FC236}">
                <a16:creationId xmlns="" xmlns:a16="http://schemas.microsoft.com/office/drawing/2014/main" id="{AC57CD83-3AF6-16FE-D4A1-6BBBB609F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000" y="0"/>
            <a:ext cx="7560000" cy="7200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 smtClean="0"/>
              <a:t>Data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3841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923D00B6-453A-EB9A-9544-BEC7C2D4D557}"/>
              </a:ext>
            </a:extLst>
          </p:cNvPr>
          <p:cNvSpPr txBox="1"/>
          <p:nvPr/>
        </p:nvSpPr>
        <p:spPr>
          <a:xfrm>
            <a:off x="6372225" y="1137456"/>
            <a:ext cx="5819775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buNone/>
            </a:pPr>
            <a:r>
              <a:rPr lang="en-US" sz="1600" b="1" i="0" u="none" strike="noStrike" dirty="0">
                <a:solidFill>
                  <a:srgbClr val="E8F0FE"/>
                </a:solidFill>
                <a:effectLst/>
                <a:latin typeface="+mj-lt"/>
              </a:rPr>
              <a:t>invoice</a:t>
            </a:r>
            <a:r>
              <a:rPr lang="en-US" sz="1600" b="0" i="0" u="none" strike="noStrike" dirty="0">
                <a:solidFill>
                  <a:srgbClr val="E8F0FE"/>
                </a:solidFill>
                <a:effectLst/>
                <a:latin typeface="+mj-lt"/>
              </a:rPr>
              <a:t>:</a:t>
            </a:r>
            <a:endParaRPr lang="en-US" sz="1600" b="0" dirty="0"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E8F0FE"/>
                </a:solidFill>
                <a:effectLst/>
                <a:latin typeface="+mj-lt"/>
              </a:rPr>
              <a:t>invoice_id</a:t>
            </a:r>
            <a:r>
              <a:rPr lang="en-US" sz="1600" b="0" i="0" u="none" strike="noStrike" dirty="0">
                <a:solidFill>
                  <a:srgbClr val="E8F0FE"/>
                </a:solidFill>
                <a:effectLst/>
                <a:latin typeface="+mj-lt"/>
              </a:rPr>
              <a:t>: Unique identifier assigned to each invoice.</a:t>
            </a:r>
          </a:p>
          <a:p>
            <a:pPr rtl="0" fontAlgn="base">
              <a:buFont typeface="Arial" panose="020B0604020202020204" pitchFamily="34" charset="0"/>
              <a:buChar char="•"/>
            </a:pPr>
            <a:endParaRPr lang="en-US" sz="1600" b="0" i="0" u="none" strike="noStrike" dirty="0">
              <a:solidFill>
                <a:srgbClr val="E8F0FE"/>
              </a:solidFill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E8F0FE"/>
                </a:solidFill>
                <a:effectLst/>
                <a:latin typeface="+mj-lt"/>
              </a:rPr>
              <a:t>customer_id</a:t>
            </a:r>
            <a:r>
              <a:rPr lang="en-US" sz="1600" b="0" i="0" u="none" strike="noStrike" dirty="0">
                <a:solidFill>
                  <a:srgbClr val="E8F0FE"/>
                </a:solidFill>
                <a:effectLst/>
                <a:latin typeface="+mj-lt"/>
              </a:rPr>
              <a:t>: The customer ID associated with the invoice.</a:t>
            </a:r>
          </a:p>
          <a:p>
            <a:pPr rtl="0" fontAlgn="base">
              <a:buFont typeface="Arial" panose="020B0604020202020204" pitchFamily="34" charset="0"/>
              <a:buChar char="•"/>
            </a:pPr>
            <a:endParaRPr lang="en-US" sz="1600" b="0" i="0" u="none" strike="noStrike" dirty="0">
              <a:solidFill>
                <a:srgbClr val="E8F0FE"/>
              </a:solidFill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E8F0FE"/>
                </a:solidFill>
                <a:effectLst/>
                <a:latin typeface="+mj-lt"/>
              </a:rPr>
              <a:t>invoice_date</a:t>
            </a:r>
            <a:r>
              <a:rPr lang="en-US" sz="1600" b="0" i="0" u="none" strike="noStrike" dirty="0">
                <a:solidFill>
                  <a:srgbClr val="E8F0FE"/>
                </a:solidFill>
                <a:effectLst/>
                <a:latin typeface="+mj-lt"/>
              </a:rPr>
              <a:t>: The date when the invoice was generated or issued.</a:t>
            </a:r>
          </a:p>
          <a:p>
            <a:pPr rtl="0" fontAlgn="base">
              <a:buFont typeface="Arial" panose="020B0604020202020204" pitchFamily="34" charset="0"/>
              <a:buChar char="•"/>
            </a:pPr>
            <a:endParaRPr lang="en-US" sz="1600" b="0" i="0" u="none" strike="noStrike" dirty="0">
              <a:solidFill>
                <a:srgbClr val="E8F0FE"/>
              </a:solidFill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E8F0FE"/>
                </a:solidFill>
                <a:effectLst/>
                <a:latin typeface="+mj-lt"/>
              </a:rPr>
              <a:t>billing_address</a:t>
            </a:r>
            <a:r>
              <a:rPr lang="en-US" sz="1600" b="0" i="0" u="none" strike="noStrike" dirty="0">
                <a:solidFill>
                  <a:srgbClr val="E8F0FE"/>
                </a:solidFill>
                <a:effectLst/>
                <a:latin typeface="+mj-lt"/>
              </a:rPr>
              <a:t>: The street address used for billing purposes.</a:t>
            </a:r>
          </a:p>
          <a:p>
            <a:pPr rtl="0" fontAlgn="base">
              <a:buFont typeface="Arial" panose="020B0604020202020204" pitchFamily="34" charset="0"/>
              <a:buChar char="•"/>
            </a:pPr>
            <a:endParaRPr lang="en-US" sz="1600" b="0" i="0" u="none" strike="noStrike" dirty="0">
              <a:solidFill>
                <a:srgbClr val="E8F0FE"/>
              </a:solidFill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E8F0FE"/>
                </a:solidFill>
                <a:effectLst/>
                <a:latin typeface="+mj-lt"/>
              </a:rPr>
              <a:t>billing_city</a:t>
            </a:r>
            <a:r>
              <a:rPr lang="en-US" sz="1600" b="0" i="0" u="none" strike="noStrike" dirty="0">
                <a:solidFill>
                  <a:srgbClr val="E8F0FE"/>
                </a:solidFill>
                <a:effectLst/>
                <a:latin typeface="+mj-lt"/>
              </a:rPr>
              <a:t>: The city used for billing purposes.</a:t>
            </a:r>
          </a:p>
          <a:p>
            <a:pPr rtl="0" fontAlgn="base">
              <a:buFont typeface="Arial" panose="020B0604020202020204" pitchFamily="34" charset="0"/>
              <a:buChar char="•"/>
            </a:pPr>
            <a:endParaRPr lang="en-US" sz="1600" b="0" i="0" u="none" strike="noStrike" dirty="0">
              <a:solidFill>
                <a:srgbClr val="E8F0FE"/>
              </a:solidFill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E8F0FE"/>
                </a:solidFill>
                <a:effectLst/>
                <a:latin typeface="+mj-lt"/>
              </a:rPr>
              <a:t>billing_state</a:t>
            </a:r>
            <a:r>
              <a:rPr lang="en-US" sz="1600" b="0" i="0" u="none" strike="noStrike" dirty="0">
                <a:solidFill>
                  <a:srgbClr val="E8F0FE"/>
                </a:solidFill>
                <a:effectLst/>
                <a:latin typeface="+mj-lt"/>
              </a:rPr>
              <a:t>: The state or province used for billing purposes.</a:t>
            </a:r>
          </a:p>
          <a:p>
            <a:pPr rtl="0" fontAlgn="base">
              <a:buFont typeface="Arial" panose="020B0604020202020204" pitchFamily="34" charset="0"/>
              <a:buChar char="•"/>
            </a:pPr>
            <a:endParaRPr lang="en-US" sz="1600" b="0" i="0" u="none" strike="noStrike" dirty="0">
              <a:solidFill>
                <a:srgbClr val="E8F0FE"/>
              </a:solidFill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E8F0FE"/>
                </a:solidFill>
                <a:effectLst/>
                <a:latin typeface="+mj-lt"/>
              </a:rPr>
              <a:t>billing_country</a:t>
            </a:r>
            <a:r>
              <a:rPr lang="en-US" sz="1600" b="0" i="0" u="none" strike="noStrike" dirty="0">
                <a:solidFill>
                  <a:srgbClr val="E8F0FE"/>
                </a:solidFill>
                <a:effectLst/>
                <a:latin typeface="+mj-lt"/>
              </a:rPr>
              <a:t>: The country used for billing purposes.</a:t>
            </a:r>
          </a:p>
          <a:p>
            <a:pPr rtl="0" fontAlgn="base"/>
            <a:endParaRPr lang="en-US" sz="1600" b="0" i="0" u="none" strike="noStrike" dirty="0">
              <a:solidFill>
                <a:srgbClr val="E8F0FE"/>
              </a:solidFill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E8F0FE"/>
                </a:solidFill>
                <a:effectLst/>
                <a:latin typeface="+mj-lt"/>
              </a:rPr>
              <a:t>billing_postal_code</a:t>
            </a:r>
            <a:r>
              <a:rPr lang="en-US" sz="1600" b="0" i="0" u="none" strike="noStrike" dirty="0">
                <a:solidFill>
                  <a:srgbClr val="E8F0FE"/>
                </a:solidFill>
                <a:effectLst/>
                <a:latin typeface="+mj-lt"/>
              </a:rPr>
              <a:t>: The postal or zip code used for billing purposes.</a:t>
            </a:r>
          </a:p>
          <a:p>
            <a:pPr rtl="0" fontAlgn="base">
              <a:buFont typeface="Arial" panose="020B0604020202020204" pitchFamily="34" charset="0"/>
              <a:buChar char="•"/>
            </a:pPr>
            <a:endParaRPr lang="en-US" sz="1600" b="0" i="0" u="none" strike="noStrike" dirty="0">
              <a:solidFill>
                <a:srgbClr val="E8F0FE"/>
              </a:solidFill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E8F0FE"/>
                </a:solidFill>
                <a:effectLst/>
                <a:latin typeface="+mj-lt"/>
              </a:rPr>
              <a:t>total: The total amount due on the invoice.</a:t>
            </a:r>
          </a:p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AC57CD83-3AF6-16FE-D4A1-6BBBB609F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-1"/>
            <a:ext cx="7560000" cy="720000"/>
          </a:xfrm>
        </p:spPr>
        <p:txBody>
          <a:bodyPr>
            <a:normAutofit fontScale="90000"/>
          </a:bodyPr>
          <a:lstStyle/>
          <a:p>
            <a:r>
              <a:rPr lang="en-US" dirty="0"/>
              <a:t>Data description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87E79E8-FEC2-852D-F681-C0F531506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37456"/>
            <a:ext cx="6329362" cy="6143625"/>
          </a:xfrm>
        </p:spPr>
        <p:txBody>
          <a:bodyPr>
            <a:normAutofit/>
          </a:bodyPr>
          <a:lstStyle/>
          <a:p>
            <a:pPr rtl="0">
              <a:buNone/>
            </a:pPr>
            <a:r>
              <a:rPr lang="en-US" sz="1600" b="1" i="0" u="none" strike="noStrike" dirty="0">
                <a:solidFill>
                  <a:srgbClr val="E8F0FE"/>
                </a:solidFill>
                <a:effectLst/>
                <a:latin typeface="+mj-lt"/>
              </a:rPr>
              <a:t>customer</a:t>
            </a:r>
            <a:r>
              <a:rPr lang="en-US" sz="1600" b="0" i="0" u="none" strike="noStrike" dirty="0">
                <a:solidFill>
                  <a:srgbClr val="E8F0FE"/>
                </a:solidFill>
                <a:effectLst/>
                <a:latin typeface="+mj-lt"/>
              </a:rPr>
              <a:t>:</a:t>
            </a:r>
            <a:endParaRPr lang="en-US" sz="1600" b="0" dirty="0"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E8F0FE"/>
                </a:solidFill>
                <a:effectLst/>
                <a:latin typeface="+mj-lt"/>
              </a:rPr>
              <a:t>customer_id</a:t>
            </a:r>
            <a:r>
              <a:rPr lang="en-US" sz="1600" b="0" i="0" u="none" strike="noStrike" dirty="0">
                <a:solidFill>
                  <a:srgbClr val="E8F0FE"/>
                </a:solidFill>
                <a:effectLst/>
                <a:latin typeface="+mj-lt"/>
              </a:rPr>
              <a:t>: Unique identifier assigned to each customer.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E8F0FE"/>
                </a:solidFill>
                <a:effectLst/>
                <a:latin typeface="+mj-lt"/>
              </a:rPr>
              <a:t>first_name</a:t>
            </a:r>
            <a:r>
              <a:rPr lang="en-US" sz="1600" b="0" i="0" u="none" strike="noStrike" dirty="0">
                <a:solidFill>
                  <a:srgbClr val="E8F0FE"/>
                </a:solidFill>
                <a:effectLst/>
                <a:latin typeface="+mj-lt"/>
              </a:rPr>
              <a:t>: The given name or first name of a customer.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E8F0FE"/>
                </a:solidFill>
                <a:effectLst/>
                <a:latin typeface="+mj-lt"/>
              </a:rPr>
              <a:t>last_name</a:t>
            </a:r>
            <a:r>
              <a:rPr lang="en-US" sz="1600" b="0" i="0" u="none" strike="noStrike" dirty="0">
                <a:solidFill>
                  <a:srgbClr val="E8F0FE"/>
                </a:solidFill>
                <a:effectLst/>
                <a:latin typeface="+mj-lt"/>
              </a:rPr>
              <a:t>: The surname or family name of a customer.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E8F0FE"/>
                </a:solidFill>
                <a:effectLst/>
                <a:latin typeface="+mj-lt"/>
              </a:rPr>
              <a:t>company: The name of the company associated with a customer.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E8F0FE"/>
                </a:solidFill>
                <a:effectLst/>
                <a:latin typeface="+mj-lt"/>
              </a:rPr>
              <a:t>address: The street address of a customer's location.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E8F0FE"/>
                </a:solidFill>
                <a:effectLst/>
                <a:latin typeface="+mj-lt"/>
              </a:rPr>
              <a:t>city: The city where a customer is located.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E8F0FE"/>
                </a:solidFill>
                <a:effectLst/>
                <a:latin typeface="+mj-lt"/>
              </a:rPr>
              <a:t>state: The state or province where a customer is located.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E8F0FE"/>
                </a:solidFill>
                <a:effectLst/>
                <a:latin typeface="+mj-lt"/>
              </a:rPr>
              <a:t>country: The country where a customer is located.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E8F0FE"/>
                </a:solidFill>
                <a:effectLst/>
                <a:latin typeface="+mj-lt"/>
              </a:rPr>
              <a:t>postal_code</a:t>
            </a:r>
            <a:r>
              <a:rPr lang="en-US" sz="1600" b="0" i="0" u="none" strike="noStrike" dirty="0">
                <a:solidFill>
                  <a:srgbClr val="E8F0FE"/>
                </a:solidFill>
                <a:effectLst/>
                <a:latin typeface="+mj-lt"/>
              </a:rPr>
              <a:t>: The postal or zip code of a customer's address.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E8F0FE"/>
                </a:solidFill>
                <a:effectLst/>
                <a:latin typeface="+mj-lt"/>
              </a:rPr>
              <a:t>phone: The phone number of a customer.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E8F0FE"/>
                </a:solidFill>
                <a:effectLst/>
                <a:latin typeface="+mj-lt"/>
              </a:rPr>
              <a:t>fax: The fax number associated with a customer.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E8F0FE"/>
                </a:solidFill>
                <a:effectLst/>
                <a:latin typeface="+mj-lt"/>
              </a:rPr>
              <a:t>email: The email address of a customer.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E8F0FE"/>
                </a:solidFill>
                <a:effectLst/>
                <a:latin typeface="+mj-lt"/>
              </a:rPr>
              <a:t>support_rep_id</a:t>
            </a:r>
            <a:r>
              <a:rPr lang="en-US" sz="1600" b="0" i="0" u="none" strike="noStrike" dirty="0">
                <a:solidFill>
                  <a:srgbClr val="E8F0FE"/>
                </a:solidFill>
                <a:effectLst/>
                <a:latin typeface="+mj-lt"/>
              </a:rPr>
              <a:t>: The employee ID of the support representative assigned to a customer.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3142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A6F8A57-C9F0-F946-BC21-18AF86957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000" y="-1"/>
            <a:ext cx="7560000" cy="720000"/>
          </a:xfrm>
        </p:spPr>
        <p:txBody>
          <a:bodyPr>
            <a:normAutofit fontScale="90000"/>
          </a:bodyPr>
          <a:lstStyle/>
          <a:p>
            <a:r>
              <a:rPr lang="en-US" dirty="0"/>
              <a:t>Data description(continued)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3A979F7-7CFD-92E8-971F-5C582F933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28663"/>
            <a:ext cx="6472238" cy="6129337"/>
          </a:xfrm>
        </p:spPr>
        <p:txBody>
          <a:bodyPr>
            <a:normAutofit fontScale="77500" lnSpcReduction="20000"/>
          </a:bodyPr>
          <a:lstStyle/>
          <a:p>
            <a:pPr rtl="0">
              <a:buNone/>
            </a:pPr>
            <a:r>
              <a:rPr lang="en-US" sz="2000" b="1" i="0" u="none" strike="noStrike" dirty="0">
                <a:solidFill>
                  <a:srgbClr val="E8F0FE"/>
                </a:solidFill>
                <a:effectLst/>
                <a:latin typeface="+mj-lt"/>
              </a:rPr>
              <a:t>invoice</a:t>
            </a:r>
            <a:r>
              <a:rPr lang="en-US" sz="2000" b="0" i="0" u="none" strike="noStrike" dirty="0">
                <a:solidFill>
                  <a:srgbClr val="E8F0FE"/>
                </a:solidFill>
                <a:effectLst/>
                <a:latin typeface="+mj-lt"/>
              </a:rPr>
              <a:t>:                                                                                                                                                </a:t>
            </a:r>
            <a:endParaRPr lang="en-US" sz="2000" b="0" dirty="0"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 err="1">
                <a:solidFill>
                  <a:srgbClr val="E8F0FE"/>
                </a:solidFill>
                <a:effectLst/>
                <a:latin typeface="+mj-lt"/>
              </a:rPr>
              <a:t>invoice_id</a:t>
            </a:r>
            <a:r>
              <a:rPr lang="en-US" sz="2000" b="0" i="0" u="none" strike="noStrike" dirty="0">
                <a:solidFill>
                  <a:srgbClr val="E8F0FE"/>
                </a:solidFill>
                <a:effectLst/>
                <a:latin typeface="+mj-lt"/>
              </a:rPr>
              <a:t>: Unique identifier assigned to each invoice.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 err="1">
                <a:solidFill>
                  <a:srgbClr val="E8F0FE"/>
                </a:solidFill>
                <a:effectLst/>
                <a:latin typeface="+mj-lt"/>
              </a:rPr>
              <a:t>customer_id</a:t>
            </a:r>
            <a:r>
              <a:rPr lang="en-US" sz="2000" b="0" i="0" u="none" strike="noStrike" dirty="0">
                <a:solidFill>
                  <a:srgbClr val="E8F0FE"/>
                </a:solidFill>
                <a:effectLst/>
                <a:latin typeface="+mj-lt"/>
              </a:rPr>
              <a:t>: The customer ID associated with the invoice.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 err="1">
                <a:solidFill>
                  <a:srgbClr val="E8F0FE"/>
                </a:solidFill>
                <a:effectLst/>
                <a:latin typeface="+mj-lt"/>
              </a:rPr>
              <a:t>invoice_date</a:t>
            </a:r>
            <a:r>
              <a:rPr lang="en-US" sz="2000" b="0" i="0" u="none" strike="noStrike" dirty="0">
                <a:solidFill>
                  <a:srgbClr val="E8F0FE"/>
                </a:solidFill>
                <a:effectLst/>
                <a:latin typeface="+mj-lt"/>
              </a:rPr>
              <a:t>: The date when the invoice was generated or issued.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 err="1">
                <a:solidFill>
                  <a:srgbClr val="E8F0FE"/>
                </a:solidFill>
                <a:effectLst/>
                <a:latin typeface="+mj-lt"/>
              </a:rPr>
              <a:t>billing_address</a:t>
            </a:r>
            <a:r>
              <a:rPr lang="en-US" sz="2000" b="0" i="0" u="none" strike="noStrike" dirty="0">
                <a:solidFill>
                  <a:srgbClr val="E8F0FE"/>
                </a:solidFill>
                <a:effectLst/>
                <a:latin typeface="+mj-lt"/>
              </a:rPr>
              <a:t>: The street address used for billing purposes.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 err="1">
                <a:solidFill>
                  <a:srgbClr val="E8F0FE"/>
                </a:solidFill>
                <a:effectLst/>
                <a:latin typeface="+mj-lt"/>
              </a:rPr>
              <a:t>billing_city</a:t>
            </a:r>
            <a:r>
              <a:rPr lang="en-US" sz="2000" b="0" i="0" u="none" strike="noStrike" dirty="0">
                <a:solidFill>
                  <a:srgbClr val="E8F0FE"/>
                </a:solidFill>
                <a:effectLst/>
                <a:latin typeface="+mj-lt"/>
              </a:rPr>
              <a:t>: The city used for billing purposes.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 err="1">
                <a:solidFill>
                  <a:srgbClr val="E8F0FE"/>
                </a:solidFill>
                <a:effectLst/>
                <a:latin typeface="+mj-lt"/>
              </a:rPr>
              <a:t>billing_state</a:t>
            </a:r>
            <a:r>
              <a:rPr lang="en-US" sz="2000" b="0" i="0" u="none" strike="noStrike" dirty="0">
                <a:solidFill>
                  <a:srgbClr val="E8F0FE"/>
                </a:solidFill>
                <a:effectLst/>
                <a:latin typeface="+mj-lt"/>
              </a:rPr>
              <a:t>: The state or province used for billing purposes.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 err="1">
                <a:solidFill>
                  <a:srgbClr val="E8F0FE"/>
                </a:solidFill>
                <a:effectLst/>
                <a:latin typeface="+mj-lt"/>
              </a:rPr>
              <a:t>billing_country</a:t>
            </a:r>
            <a:r>
              <a:rPr lang="en-US" sz="2000" b="0" i="0" u="none" strike="noStrike" dirty="0">
                <a:solidFill>
                  <a:srgbClr val="E8F0FE"/>
                </a:solidFill>
                <a:effectLst/>
                <a:latin typeface="+mj-lt"/>
              </a:rPr>
              <a:t>: The country used for billing purposes.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 err="1">
                <a:solidFill>
                  <a:srgbClr val="E8F0FE"/>
                </a:solidFill>
                <a:effectLst/>
                <a:latin typeface="+mj-lt"/>
              </a:rPr>
              <a:t>billing_postal_code</a:t>
            </a:r>
            <a:r>
              <a:rPr lang="en-US" sz="2000" b="0" i="0" u="none" strike="noStrike" dirty="0">
                <a:solidFill>
                  <a:srgbClr val="E8F0FE"/>
                </a:solidFill>
                <a:effectLst/>
                <a:latin typeface="+mj-lt"/>
              </a:rPr>
              <a:t>: The postal or zip code used for billing purposes.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E8F0FE"/>
                </a:solidFill>
                <a:effectLst/>
                <a:latin typeface="+mj-lt"/>
              </a:rPr>
              <a:t>total: The total amount due on the invoice.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E8F0FE"/>
                </a:solidFill>
                <a:effectLst/>
                <a:latin typeface="+mj-lt"/>
              </a:rPr>
              <a:t/>
            </a:r>
            <a:br>
              <a:rPr lang="en-US" sz="2000" b="0" i="0" u="none" strike="noStrike" dirty="0">
                <a:solidFill>
                  <a:srgbClr val="E8F0FE"/>
                </a:solidFill>
                <a:effectLst/>
                <a:latin typeface="+mj-lt"/>
              </a:rPr>
            </a:br>
            <a:endParaRPr lang="en-US" sz="2000" b="0" i="0" u="none" strike="noStrike" dirty="0">
              <a:solidFill>
                <a:srgbClr val="E8F0FE"/>
              </a:solidFill>
              <a:effectLst/>
              <a:latin typeface="+mj-lt"/>
            </a:endParaRPr>
          </a:p>
          <a:p>
            <a:pPr rtl="0">
              <a:buNone/>
            </a:pPr>
            <a:r>
              <a:rPr lang="en-US" sz="2000" b="1" i="0" u="none" strike="noStrike" dirty="0" err="1">
                <a:solidFill>
                  <a:srgbClr val="E8F0FE"/>
                </a:solidFill>
                <a:effectLst/>
                <a:latin typeface="+mj-lt"/>
              </a:rPr>
              <a:t>invoice_line</a:t>
            </a:r>
            <a:r>
              <a:rPr lang="en-US" sz="2000" b="1" i="0" u="none" strike="noStrike" dirty="0">
                <a:solidFill>
                  <a:srgbClr val="E8F0FE"/>
                </a:solidFill>
                <a:effectLst/>
                <a:latin typeface="+mj-lt"/>
              </a:rPr>
              <a:t>:</a:t>
            </a:r>
            <a:endParaRPr lang="en-US" sz="2000" b="0" dirty="0"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 err="1">
                <a:solidFill>
                  <a:srgbClr val="E8F0FE"/>
                </a:solidFill>
                <a:effectLst/>
                <a:latin typeface="+mj-lt"/>
              </a:rPr>
              <a:t>invoice_line_id</a:t>
            </a:r>
            <a:r>
              <a:rPr lang="en-US" sz="2000" b="0" i="0" u="none" strike="noStrike" dirty="0">
                <a:solidFill>
                  <a:srgbClr val="E8F0FE"/>
                </a:solidFill>
                <a:effectLst/>
                <a:latin typeface="+mj-lt"/>
              </a:rPr>
              <a:t>: Unique identifier assigned to each line item on an invoice.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 err="1">
                <a:solidFill>
                  <a:srgbClr val="E8F0FE"/>
                </a:solidFill>
                <a:effectLst/>
                <a:latin typeface="+mj-lt"/>
              </a:rPr>
              <a:t>invoice_id</a:t>
            </a:r>
            <a:r>
              <a:rPr lang="en-US" sz="2000" b="0" i="0" u="none" strike="noStrike" dirty="0">
                <a:solidFill>
                  <a:srgbClr val="E8F0FE"/>
                </a:solidFill>
                <a:effectLst/>
                <a:latin typeface="+mj-lt"/>
              </a:rPr>
              <a:t>: The invoice ID to which the line item belongs.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 err="1">
                <a:solidFill>
                  <a:srgbClr val="E8F0FE"/>
                </a:solidFill>
                <a:effectLst/>
                <a:latin typeface="+mj-lt"/>
              </a:rPr>
              <a:t>track_id</a:t>
            </a:r>
            <a:r>
              <a:rPr lang="en-US" sz="2000" b="0" i="0" u="none" strike="noStrike" dirty="0">
                <a:solidFill>
                  <a:srgbClr val="E8F0FE"/>
                </a:solidFill>
                <a:effectLst/>
                <a:latin typeface="+mj-lt"/>
              </a:rPr>
              <a:t>: The ID of the track or product included in the line item.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 err="1">
                <a:solidFill>
                  <a:srgbClr val="E8F0FE"/>
                </a:solidFill>
                <a:effectLst/>
                <a:latin typeface="+mj-lt"/>
              </a:rPr>
              <a:t>unit_price</a:t>
            </a:r>
            <a:r>
              <a:rPr lang="en-US" sz="2000" b="0" i="0" u="none" strike="noStrike" dirty="0">
                <a:solidFill>
                  <a:srgbClr val="E8F0FE"/>
                </a:solidFill>
                <a:effectLst/>
                <a:latin typeface="+mj-lt"/>
              </a:rPr>
              <a:t>: The price per unit for the line item.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E8F0FE"/>
                </a:solidFill>
                <a:effectLst/>
                <a:latin typeface="+mj-lt"/>
              </a:rPr>
              <a:t>quantity: The quantity of units for the line item.</a:t>
            </a:r>
          </a:p>
          <a:p>
            <a:pPr>
              <a:buNone/>
            </a:pPr>
            <a:r>
              <a:rPr lang="en-US" b="0" dirty="0">
                <a:effectLst/>
              </a:rPr>
              <a:t/>
            </a:r>
            <a:br>
              <a:rPr lang="en-US" b="0" dirty="0">
                <a:effectLst/>
              </a:rPr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6766D233-F929-A1F8-E667-060EF1A40DDE}"/>
              </a:ext>
            </a:extLst>
          </p:cNvPr>
          <p:cNvSpPr txBox="1"/>
          <p:nvPr/>
        </p:nvSpPr>
        <p:spPr>
          <a:xfrm>
            <a:off x="6472238" y="728663"/>
            <a:ext cx="5719762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buNone/>
            </a:pPr>
            <a:r>
              <a:rPr lang="en-US" sz="1600" b="1" i="0" u="none" strike="noStrike" dirty="0">
                <a:solidFill>
                  <a:srgbClr val="E8F0FE"/>
                </a:solidFill>
                <a:effectLst/>
                <a:latin typeface="+mj-lt"/>
              </a:rPr>
              <a:t>playlist</a:t>
            </a:r>
            <a:r>
              <a:rPr lang="en-US" sz="1600" b="0" i="0" u="none" strike="noStrike" dirty="0">
                <a:solidFill>
                  <a:srgbClr val="E8F0FE"/>
                </a:solidFill>
                <a:effectLst/>
                <a:latin typeface="+mj-lt"/>
              </a:rPr>
              <a:t>:</a:t>
            </a:r>
            <a:endParaRPr lang="en-US" sz="1600" b="0" dirty="0"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E8F0FE"/>
                </a:solidFill>
                <a:effectLst/>
                <a:latin typeface="+mj-lt"/>
              </a:rPr>
              <a:t>playlist_id</a:t>
            </a:r>
            <a:r>
              <a:rPr lang="en-US" sz="1600" b="0" i="0" u="none" strike="noStrike" dirty="0">
                <a:solidFill>
                  <a:srgbClr val="E8F0FE"/>
                </a:solidFill>
                <a:effectLst/>
                <a:latin typeface="+mj-lt"/>
              </a:rPr>
              <a:t>: Unique identifier assigned to each playlist.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E8F0FE"/>
                </a:solidFill>
                <a:effectLst/>
                <a:latin typeface="+mj-lt"/>
              </a:rPr>
              <a:t>name: The name or title of the playlist.</a:t>
            </a:r>
          </a:p>
          <a:p>
            <a:pPr rtl="0">
              <a:buNone/>
            </a:pPr>
            <a:r>
              <a:rPr lang="en-US" sz="1600" b="0" dirty="0">
                <a:effectLst/>
                <a:latin typeface="+mj-lt"/>
              </a:rPr>
              <a:t/>
            </a:r>
            <a:br>
              <a:rPr lang="en-US" sz="1600" b="0" dirty="0">
                <a:effectLst/>
                <a:latin typeface="+mj-lt"/>
              </a:rPr>
            </a:br>
            <a:r>
              <a:rPr lang="en-US" sz="1600" b="1" i="0" u="none" strike="noStrike" dirty="0" err="1">
                <a:solidFill>
                  <a:srgbClr val="E8F0FE"/>
                </a:solidFill>
                <a:effectLst/>
                <a:latin typeface="+mj-lt"/>
              </a:rPr>
              <a:t>playlist_track</a:t>
            </a:r>
            <a:r>
              <a:rPr lang="en-US" sz="1600" b="0" i="0" u="none" strike="noStrike" dirty="0">
                <a:solidFill>
                  <a:srgbClr val="E8F0FE"/>
                </a:solidFill>
                <a:effectLst/>
                <a:latin typeface="+mj-lt"/>
              </a:rPr>
              <a:t>:</a:t>
            </a:r>
            <a:endParaRPr lang="en-US" sz="1600" b="0" dirty="0"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E8F0FE"/>
                </a:solidFill>
                <a:effectLst/>
                <a:latin typeface="+mj-lt"/>
              </a:rPr>
              <a:t>playlist_id</a:t>
            </a:r>
            <a:r>
              <a:rPr lang="en-US" sz="1600" b="0" i="0" u="none" strike="noStrike" dirty="0">
                <a:solidFill>
                  <a:srgbClr val="E8F0FE"/>
                </a:solidFill>
                <a:effectLst/>
                <a:latin typeface="+mj-lt"/>
              </a:rPr>
              <a:t>: The ID of the playlist to which the track belongs.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E8F0FE"/>
                </a:solidFill>
                <a:effectLst/>
                <a:latin typeface="+mj-lt"/>
              </a:rPr>
              <a:t>track_id</a:t>
            </a:r>
            <a:r>
              <a:rPr lang="en-US" sz="1600" b="0" i="0" u="none" strike="noStrike" dirty="0">
                <a:solidFill>
                  <a:srgbClr val="E8F0FE"/>
                </a:solidFill>
                <a:effectLst/>
                <a:latin typeface="+mj-lt"/>
              </a:rPr>
              <a:t>: The ID of the track included in the playlist.</a:t>
            </a:r>
          </a:p>
          <a:p>
            <a:pPr rtl="0">
              <a:buNone/>
            </a:pPr>
            <a:r>
              <a:rPr lang="en-US" sz="1600" b="0" dirty="0">
                <a:effectLst/>
                <a:latin typeface="+mj-lt"/>
              </a:rPr>
              <a:t/>
            </a:r>
            <a:br>
              <a:rPr lang="en-US" sz="1600" b="0" dirty="0">
                <a:effectLst/>
                <a:latin typeface="+mj-lt"/>
              </a:rPr>
            </a:br>
            <a:r>
              <a:rPr lang="en-US" sz="1600" b="1" i="0" u="none" strike="noStrike" dirty="0">
                <a:solidFill>
                  <a:srgbClr val="E8F0FE"/>
                </a:solidFill>
                <a:effectLst/>
                <a:latin typeface="+mj-lt"/>
              </a:rPr>
              <a:t>track</a:t>
            </a:r>
            <a:r>
              <a:rPr lang="en-US" sz="1600" b="0" i="0" u="none" strike="noStrike" dirty="0">
                <a:solidFill>
                  <a:srgbClr val="E8F0FE"/>
                </a:solidFill>
                <a:effectLst/>
                <a:latin typeface="+mj-lt"/>
              </a:rPr>
              <a:t>:</a:t>
            </a:r>
            <a:endParaRPr lang="en-US" sz="1600" b="0" dirty="0"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E8F0FE"/>
                </a:solidFill>
                <a:effectLst/>
                <a:latin typeface="+mj-lt"/>
              </a:rPr>
              <a:t>track_id</a:t>
            </a:r>
            <a:r>
              <a:rPr lang="en-US" sz="1600" b="0" i="0" u="none" strike="noStrike" dirty="0">
                <a:solidFill>
                  <a:srgbClr val="E8F0FE"/>
                </a:solidFill>
                <a:effectLst/>
                <a:latin typeface="+mj-lt"/>
              </a:rPr>
              <a:t>: Unique identifier assigned to each track or song.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E8F0FE"/>
                </a:solidFill>
                <a:effectLst/>
                <a:latin typeface="+mj-lt"/>
              </a:rPr>
              <a:t>name: The title or name of the track.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E8F0FE"/>
                </a:solidFill>
                <a:effectLst/>
                <a:latin typeface="+mj-lt"/>
              </a:rPr>
              <a:t>album_id</a:t>
            </a:r>
            <a:r>
              <a:rPr lang="en-US" sz="1600" b="0" i="0" u="none" strike="noStrike" dirty="0">
                <a:solidFill>
                  <a:srgbClr val="E8F0FE"/>
                </a:solidFill>
                <a:effectLst/>
                <a:latin typeface="+mj-lt"/>
              </a:rPr>
              <a:t>: The ID of the album to which the track belongs.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E8F0FE"/>
                </a:solidFill>
                <a:effectLst/>
                <a:latin typeface="+mj-lt"/>
              </a:rPr>
              <a:t>media_type_id</a:t>
            </a:r>
            <a:r>
              <a:rPr lang="en-US" sz="1600" b="0" i="0" u="none" strike="noStrike" dirty="0">
                <a:solidFill>
                  <a:srgbClr val="E8F0FE"/>
                </a:solidFill>
                <a:effectLst/>
                <a:latin typeface="+mj-lt"/>
              </a:rPr>
              <a:t>: The ID of the media type associated with the track.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E8F0FE"/>
                </a:solidFill>
                <a:effectLst/>
                <a:latin typeface="+mj-lt"/>
              </a:rPr>
              <a:t>genre_id</a:t>
            </a:r>
            <a:r>
              <a:rPr lang="en-US" sz="1600" b="0" i="0" u="none" strike="noStrike" dirty="0">
                <a:solidFill>
                  <a:srgbClr val="E8F0FE"/>
                </a:solidFill>
                <a:effectLst/>
                <a:latin typeface="+mj-lt"/>
              </a:rPr>
              <a:t>: The ID of the genre associated with the track.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E8F0FE"/>
                </a:solidFill>
                <a:effectLst/>
                <a:latin typeface="+mj-lt"/>
              </a:rPr>
              <a:t>composer: The name of the composer or artist who composed the track.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E8F0FE"/>
                </a:solidFill>
                <a:effectLst/>
                <a:latin typeface="+mj-lt"/>
              </a:rPr>
              <a:t>milliseconds: The duration of the track in milliseconds.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E8F0FE"/>
                </a:solidFill>
                <a:effectLst/>
                <a:latin typeface="+mj-lt"/>
              </a:rPr>
              <a:t>bytes: The file size of the track in bytes.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E8F0FE"/>
                </a:solidFill>
                <a:effectLst/>
                <a:latin typeface="+mj-lt"/>
              </a:rPr>
              <a:t>unit_price</a:t>
            </a:r>
            <a:r>
              <a:rPr lang="en-US" sz="1600" b="0" i="0" u="none" strike="noStrike" dirty="0">
                <a:solidFill>
                  <a:srgbClr val="E8F0FE"/>
                </a:solidFill>
                <a:effectLst/>
                <a:latin typeface="+mj-lt"/>
              </a:rPr>
              <a:t>: The price per unit for the track.</a:t>
            </a:r>
          </a:p>
          <a:p>
            <a:pPr>
              <a:buNone/>
            </a:pPr>
            <a:r>
              <a:rPr lang="en-US" b="0" dirty="0">
                <a:effectLst/>
              </a:rPr>
              <a:t/>
            </a:r>
            <a:br>
              <a:rPr lang="en-US" b="0" dirty="0">
                <a:effectLst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6681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8E3B116-CEB1-4FAA-CF49-6AE1F4B76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000" y="0"/>
            <a:ext cx="7560000" cy="720000"/>
          </a:xfrm>
        </p:spPr>
        <p:txBody>
          <a:bodyPr>
            <a:normAutofit fontScale="90000"/>
          </a:bodyPr>
          <a:lstStyle/>
          <a:p>
            <a:r>
              <a:rPr lang="en-US" dirty="0"/>
              <a:t>Data description(continued)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FB718C3-E567-8D65-AB61-0C8672FD1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138" y="1240668"/>
            <a:ext cx="6401724" cy="5323905"/>
          </a:xfrm>
        </p:spPr>
        <p:txBody>
          <a:bodyPr>
            <a:normAutofit fontScale="92500" lnSpcReduction="10000"/>
          </a:bodyPr>
          <a:lstStyle/>
          <a:p>
            <a:pPr rtl="0">
              <a:buNone/>
            </a:pPr>
            <a:r>
              <a:rPr lang="en-US" sz="1700" b="1" i="0" u="none" strike="noStrike" dirty="0">
                <a:solidFill>
                  <a:srgbClr val="E8F0FE"/>
                </a:solidFill>
                <a:effectLst/>
                <a:latin typeface="+mj-lt"/>
              </a:rPr>
              <a:t>   </a:t>
            </a:r>
            <a:r>
              <a:rPr lang="en-US" sz="1600" b="1" i="0" u="none" strike="noStrike" dirty="0">
                <a:solidFill>
                  <a:srgbClr val="E8F0FE"/>
                </a:solidFill>
                <a:effectLst/>
                <a:latin typeface="+mj-lt"/>
              </a:rPr>
              <a:t>album</a:t>
            </a:r>
            <a:r>
              <a:rPr lang="en-US" sz="1600" b="0" i="0" u="none" strike="noStrike" dirty="0">
                <a:solidFill>
                  <a:srgbClr val="E8F0FE"/>
                </a:solidFill>
                <a:effectLst/>
                <a:latin typeface="+mj-lt"/>
              </a:rPr>
              <a:t>:</a:t>
            </a:r>
            <a:endParaRPr lang="en-US" sz="1600" b="0" dirty="0"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E8F0FE"/>
                </a:solidFill>
                <a:effectLst/>
                <a:latin typeface="+mj-lt"/>
              </a:rPr>
              <a:t>album_id</a:t>
            </a:r>
            <a:r>
              <a:rPr lang="en-US" sz="1600" b="0" i="0" u="none" strike="noStrike" dirty="0">
                <a:solidFill>
                  <a:srgbClr val="E8F0FE"/>
                </a:solidFill>
                <a:effectLst/>
                <a:latin typeface="+mj-lt"/>
              </a:rPr>
              <a:t>: Unique identifier assigned to each album.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E8F0FE"/>
                </a:solidFill>
                <a:effectLst/>
                <a:latin typeface="+mj-lt"/>
              </a:rPr>
              <a:t>title: The title or name of the album.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E8F0FE"/>
                </a:solidFill>
                <a:effectLst/>
                <a:latin typeface="+mj-lt"/>
              </a:rPr>
              <a:t>artist_id</a:t>
            </a:r>
            <a:r>
              <a:rPr lang="en-US" sz="1600" b="0" i="0" u="none" strike="noStrike" dirty="0">
                <a:solidFill>
                  <a:srgbClr val="E8F0FE"/>
                </a:solidFill>
                <a:effectLst/>
                <a:latin typeface="+mj-lt"/>
              </a:rPr>
              <a:t>: The ID of the artist associated with the album.</a:t>
            </a:r>
          </a:p>
          <a:p>
            <a:pPr rtl="0">
              <a:buNone/>
            </a:pPr>
            <a:r>
              <a:rPr lang="en-US" sz="1600" b="0" dirty="0">
                <a:effectLst/>
                <a:latin typeface="+mj-lt"/>
              </a:rPr>
              <a:t/>
            </a:r>
            <a:br>
              <a:rPr lang="en-US" sz="1600" b="0" dirty="0">
                <a:effectLst/>
                <a:latin typeface="+mj-lt"/>
              </a:rPr>
            </a:br>
            <a:r>
              <a:rPr lang="en-US" sz="1600" b="1" i="0" u="none" strike="noStrike" dirty="0">
                <a:solidFill>
                  <a:srgbClr val="E8F0FE"/>
                </a:solidFill>
                <a:effectLst/>
                <a:latin typeface="+mj-lt"/>
              </a:rPr>
              <a:t>artist</a:t>
            </a:r>
            <a:r>
              <a:rPr lang="en-US" sz="1600" b="0" i="0" u="none" strike="noStrike" dirty="0">
                <a:solidFill>
                  <a:srgbClr val="E8F0FE"/>
                </a:solidFill>
                <a:effectLst/>
                <a:latin typeface="+mj-lt"/>
              </a:rPr>
              <a:t>:</a:t>
            </a:r>
            <a:endParaRPr lang="en-US" sz="1600" b="0" dirty="0"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 err="1">
                <a:solidFill>
                  <a:srgbClr val="E8F0FE"/>
                </a:solidFill>
                <a:effectLst/>
                <a:latin typeface="+mj-lt"/>
              </a:rPr>
              <a:t>artist_id</a:t>
            </a:r>
            <a:r>
              <a:rPr lang="en-US" sz="1600" b="0" i="0" u="none" strike="noStrike" dirty="0">
                <a:solidFill>
                  <a:srgbClr val="E8F0FE"/>
                </a:solidFill>
                <a:effectLst/>
                <a:latin typeface="+mj-lt"/>
              </a:rPr>
              <a:t>: Unique identifier assigned to each artist.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E8F0FE"/>
                </a:solidFill>
                <a:effectLst/>
                <a:latin typeface="+mj-lt"/>
              </a:rPr>
              <a:t>name: The name of the artist.</a:t>
            </a:r>
          </a:p>
          <a:p>
            <a:pPr rtl="0">
              <a:buNone/>
            </a:pPr>
            <a:r>
              <a:rPr lang="en-US" sz="1600" b="0" dirty="0">
                <a:effectLst/>
              </a:rPr>
              <a:t/>
            </a:r>
            <a:br>
              <a:rPr lang="en-US" sz="1600" b="0" dirty="0">
                <a:effectLst/>
              </a:rPr>
            </a:br>
            <a:r>
              <a:rPr lang="en-IN" sz="1600" b="1" i="0" u="none" strike="noStrike" dirty="0" err="1">
                <a:solidFill>
                  <a:srgbClr val="E8F0FE"/>
                </a:solidFill>
                <a:effectLst/>
                <a:latin typeface="+mj-lt"/>
              </a:rPr>
              <a:t>media_type</a:t>
            </a:r>
            <a:r>
              <a:rPr lang="en-IN" sz="1600" b="0" i="0" u="none" strike="noStrike" dirty="0">
                <a:solidFill>
                  <a:srgbClr val="E8F0FE"/>
                </a:solidFill>
                <a:effectLst/>
                <a:latin typeface="+mj-lt"/>
              </a:rPr>
              <a:t>:</a:t>
            </a:r>
            <a:endParaRPr lang="en-IN" sz="1600" b="0" dirty="0"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600" b="0" i="0" u="none" strike="noStrike" dirty="0" err="1">
                <a:solidFill>
                  <a:srgbClr val="E8F0FE"/>
                </a:solidFill>
                <a:effectLst/>
                <a:latin typeface="+mj-lt"/>
              </a:rPr>
              <a:t>media_type_id</a:t>
            </a:r>
            <a:r>
              <a:rPr lang="en-IN" sz="1600" b="0" i="0" u="none" strike="noStrike" dirty="0">
                <a:solidFill>
                  <a:srgbClr val="E8F0FE"/>
                </a:solidFill>
                <a:effectLst/>
                <a:latin typeface="+mj-lt"/>
              </a:rPr>
              <a:t>: Unique identifier assigned to each media type.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600" b="0" i="0" u="none" strike="noStrike" dirty="0">
                <a:solidFill>
                  <a:srgbClr val="E8F0FE"/>
                </a:solidFill>
                <a:effectLst/>
                <a:latin typeface="+mj-lt"/>
              </a:rPr>
              <a:t>name: The name or description of the media type (e.g., MPEG audio file, AAC audio file).</a:t>
            </a:r>
          </a:p>
          <a:p>
            <a:pPr rtl="0">
              <a:buNone/>
            </a:pPr>
            <a:r>
              <a:rPr lang="en-IN" sz="1600" b="0" dirty="0">
                <a:effectLst/>
                <a:latin typeface="+mj-lt"/>
              </a:rPr>
              <a:t/>
            </a:r>
            <a:br>
              <a:rPr lang="en-IN" sz="1600" b="0" dirty="0">
                <a:effectLst/>
                <a:latin typeface="+mj-lt"/>
              </a:rPr>
            </a:br>
            <a:r>
              <a:rPr lang="en-IN" sz="1600" b="1" i="0" u="none" strike="noStrike" dirty="0">
                <a:solidFill>
                  <a:srgbClr val="E8F0FE"/>
                </a:solidFill>
                <a:effectLst/>
                <a:latin typeface="+mj-lt"/>
              </a:rPr>
              <a:t>genre</a:t>
            </a:r>
            <a:r>
              <a:rPr lang="en-IN" sz="1600" b="0" i="0" u="none" strike="noStrike" dirty="0">
                <a:solidFill>
                  <a:srgbClr val="E8F0FE"/>
                </a:solidFill>
                <a:effectLst/>
                <a:latin typeface="+mj-lt"/>
              </a:rPr>
              <a:t>:</a:t>
            </a:r>
            <a:endParaRPr lang="en-IN" sz="1600" b="0" dirty="0">
              <a:effectLst/>
              <a:latin typeface="+mj-lt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600" b="0" i="0" u="none" strike="noStrike" dirty="0" err="1">
                <a:solidFill>
                  <a:srgbClr val="E8F0FE"/>
                </a:solidFill>
                <a:effectLst/>
                <a:latin typeface="+mj-lt"/>
              </a:rPr>
              <a:t>genre_id</a:t>
            </a:r>
            <a:r>
              <a:rPr lang="en-IN" sz="1600" b="0" i="0" u="none" strike="noStrike" dirty="0">
                <a:solidFill>
                  <a:srgbClr val="E8F0FE"/>
                </a:solidFill>
                <a:effectLst/>
                <a:latin typeface="+mj-lt"/>
              </a:rPr>
              <a:t>: Unique identifier assigned to each genre.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IN" sz="1600" b="0" i="0" u="none" strike="noStrike" dirty="0">
                <a:solidFill>
                  <a:srgbClr val="E8F0FE"/>
                </a:solidFill>
                <a:effectLst/>
                <a:latin typeface="+mj-lt"/>
              </a:rPr>
              <a:t>name: The name or description of the genre (e.g., rock, pop, classical).</a:t>
            </a:r>
          </a:p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7126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9E9C895-CA00-889B-9051-09EDADAE2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000" y="-1"/>
            <a:ext cx="7560000" cy="720000"/>
          </a:xfrm>
        </p:spPr>
        <p:txBody>
          <a:bodyPr>
            <a:normAutofit fontScale="90000"/>
          </a:bodyPr>
          <a:lstStyle/>
          <a:p>
            <a:r>
              <a:rPr lang="en-US" dirty="0"/>
              <a:t>Most popular genres in America based on sales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1F789ACD-AC11-D02B-980F-A7C157AEDF66}"/>
              </a:ext>
            </a:extLst>
          </p:cNvPr>
          <p:cNvSpPr txBox="1"/>
          <p:nvPr/>
        </p:nvSpPr>
        <p:spPr>
          <a:xfrm>
            <a:off x="6096000" y="1243013"/>
            <a:ext cx="60960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most popular genre in the USA is Rock.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After Rock,  Alternative &amp; Punk and Metal are the most popular genres.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Based on this, Rock albums and Rock artists should be advertised. Metal and Alternative &amp; Punk should also be promoted.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genres like Blues and R&amp;B/Soul, they should be sold on exclusive deals to frequent buyers of these genres.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45F15669-A422-CC24-9223-70C2381A1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12" y="1243013"/>
            <a:ext cx="5734576" cy="4362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157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CE3E65E-2139-ED1C-0CB7-A58F2B8BA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000" y="1"/>
            <a:ext cx="7560000" cy="720000"/>
          </a:xfrm>
        </p:spPr>
        <p:txBody>
          <a:bodyPr>
            <a:normAutofit fontScale="90000"/>
          </a:bodyPr>
          <a:lstStyle/>
          <a:p>
            <a:r>
              <a:rPr lang="en-US" dirty="0"/>
              <a:t>Most popular genres outside America based on sales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AA571A02-47E3-05A2-496E-777375A50C18}"/>
              </a:ext>
            </a:extLst>
          </p:cNvPr>
          <p:cNvSpPr txBox="1"/>
          <p:nvPr/>
        </p:nvSpPr>
        <p:spPr>
          <a:xfrm>
            <a:off x="5943600" y="1000125"/>
            <a:ext cx="62484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Just like the USA, the most popular genre outside USA based on sales is Rock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Outside America, Metal is more popular than Alternative &amp; Punk, but both are similarly popular after Rock like in America.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Outside America, Latin is more popular than R&amp;B/Soul and Jazz is more popular than Blues.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Rock should be advertised the highest because of its massive lead in total sales.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Metal and Alternative &amp; Punk should be promoted.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Latin, Jazz and R&amp;B/Soul should be sold on discounts to frequent buyers.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CB545400-2ABA-56CD-F119-B98344244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16" y="1000125"/>
            <a:ext cx="5400000" cy="4569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770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A3B2AC3-B762-E25F-AB02-28FE409D4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000" y="1"/>
            <a:ext cx="7560000" cy="720000"/>
          </a:xfrm>
        </p:spPr>
        <p:txBody>
          <a:bodyPr>
            <a:normAutofit fontScale="90000"/>
          </a:bodyPr>
          <a:lstStyle/>
          <a:p>
            <a:r>
              <a:rPr lang="en-US" dirty="0"/>
              <a:t>Affinity analysis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="" xmlns:a16="http://schemas.microsoft.com/office/drawing/2014/main" id="{FB950FF7-3FE3-7C2D-040A-E8E7792BA7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0193896"/>
              </p:ext>
            </p:extLst>
          </p:nvPr>
        </p:nvGraphicFramePr>
        <p:xfrm>
          <a:off x="137155" y="853678"/>
          <a:ext cx="4357689" cy="4718447"/>
        </p:xfrm>
        <a:graphic>
          <a:graphicData uri="http://schemas.openxmlformats.org/drawingml/2006/table">
            <a:tbl>
              <a:tblPr/>
              <a:tblGrid>
                <a:gridCol w="1452563">
                  <a:extLst>
                    <a:ext uri="{9D8B030D-6E8A-4147-A177-3AD203B41FA5}">
                      <a16:colId xmlns="" xmlns:a16="http://schemas.microsoft.com/office/drawing/2014/main" val="919978492"/>
                    </a:ext>
                  </a:extLst>
                </a:gridCol>
                <a:gridCol w="1452563">
                  <a:extLst>
                    <a:ext uri="{9D8B030D-6E8A-4147-A177-3AD203B41FA5}">
                      <a16:colId xmlns="" xmlns:a16="http://schemas.microsoft.com/office/drawing/2014/main" val="2215451831"/>
                    </a:ext>
                  </a:extLst>
                </a:gridCol>
                <a:gridCol w="1452563">
                  <a:extLst>
                    <a:ext uri="{9D8B030D-6E8A-4147-A177-3AD203B41FA5}">
                      <a16:colId xmlns="" xmlns:a16="http://schemas.microsoft.com/office/drawing/2014/main" val="2219278130"/>
                    </a:ext>
                  </a:extLst>
                </a:gridCol>
              </a:tblGrid>
              <a:tr h="790515">
                <a:tc>
                  <a:txBody>
                    <a:bodyPr/>
                    <a:lstStyle/>
                    <a:p>
                      <a:r>
                        <a:rPr lang="en-IN" sz="1600" b="1" dirty="0"/>
                        <a:t>genre_1</a:t>
                      </a:r>
                    </a:p>
                    <a:p>
                      <a:r>
                        <a:rPr lang="en-IN" sz="1600" dirty="0"/>
                        <a:t>Rock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genre_2</a:t>
                      </a:r>
                    </a:p>
                    <a:p>
                      <a:r>
                        <a:rPr lang="en-IN" sz="1600" dirty="0"/>
                        <a:t>Rock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 err="1"/>
                        <a:t>times_bought_together</a:t>
                      </a:r>
                      <a:endParaRPr lang="en-IN" sz="1600" b="1" dirty="0"/>
                    </a:p>
                    <a:p>
                      <a:r>
                        <a:rPr lang="en-IN" sz="1600" dirty="0"/>
                        <a:t>19182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8359965"/>
                  </a:ext>
                </a:extLst>
              </a:tr>
              <a:tr h="553065">
                <a:tc>
                  <a:txBody>
                    <a:bodyPr/>
                    <a:lstStyle/>
                    <a:p>
                      <a:r>
                        <a:rPr lang="en-IN" sz="1600"/>
                        <a:t>Alternative &amp; Punk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Alternative &amp; Punk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2532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42649514"/>
                  </a:ext>
                </a:extLst>
              </a:tr>
              <a:tr h="315615">
                <a:tc>
                  <a:txBody>
                    <a:bodyPr/>
                    <a:lstStyle/>
                    <a:p>
                      <a:r>
                        <a:rPr lang="en-IN" sz="1600"/>
                        <a:t>Metal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Metal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2116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9885096"/>
                  </a:ext>
                </a:extLst>
              </a:tr>
              <a:tr h="315615">
                <a:tc>
                  <a:txBody>
                    <a:bodyPr/>
                    <a:lstStyle/>
                    <a:p>
                      <a:r>
                        <a:rPr lang="en-IN" sz="1600"/>
                        <a:t>Rock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Metal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1610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272691433"/>
                  </a:ext>
                </a:extLst>
              </a:tr>
              <a:tr h="315615">
                <a:tc>
                  <a:txBody>
                    <a:bodyPr/>
                    <a:lstStyle/>
                    <a:p>
                      <a:r>
                        <a:rPr lang="en-IN" sz="1600"/>
                        <a:t>Metal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Rock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1610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915518114"/>
                  </a:ext>
                </a:extLst>
              </a:tr>
              <a:tr h="553065">
                <a:tc>
                  <a:txBody>
                    <a:bodyPr/>
                    <a:lstStyle/>
                    <a:p>
                      <a:r>
                        <a:rPr lang="en-IN" sz="1600"/>
                        <a:t>Alternative &amp; Punk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Rock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1045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373316003"/>
                  </a:ext>
                </a:extLst>
              </a:tr>
              <a:tr h="553065">
                <a:tc>
                  <a:txBody>
                    <a:bodyPr/>
                    <a:lstStyle/>
                    <a:p>
                      <a:r>
                        <a:rPr lang="en-IN" sz="1600"/>
                        <a:t>Rock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Alternative &amp; Punk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1045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729195948"/>
                  </a:ext>
                </a:extLst>
              </a:tr>
              <a:tr h="582275">
                <a:tc>
                  <a:txBody>
                    <a:bodyPr/>
                    <a:lstStyle/>
                    <a:p>
                      <a:r>
                        <a:rPr lang="en-IN" sz="1600"/>
                        <a:t>R&amp;B/Soul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R&amp;B/Soul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842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811976147"/>
                  </a:ext>
                </a:extLst>
              </a:tr>
              <a:tr h="315615">
                <a:tc>
                  <a:txBody>
                    <a:bodyPr/>
                    <a:lstStyle/>
                    <a:p>
                      <a:r>
                        <a:rPr lang="en-IN" sz="1600"/>
                        <a:t>Blues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Blues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776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974819574"/>
                  </a:ext>
                </a:extLst>
              </a:tr>
              <a:tr h="315615">
                <a:tc>
                  <a:txBody>
                    <a:bodyPr/>
                    <a:lstStyle/>
                    <a:p>
                      <a:r>
                        <a:rPr lang="en-IN" sz="1600"/>
                        <a:t>Latin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Latin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764</a:t>
                      </a:r>
                    </a:p>
                  </a:txBody>
                  <a:tcPr marL="80268" marR="80268" marT="40134" marB="401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99158113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="" xmlns:a16="http://schemas.microsoft.com/office/drawing/2014/main" id="{8C16CDD5-488D-0D26-A769-A14A1406EB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2170078"/>
              </p:ext>
            </p:extLst>
          </p:nvPr>
        </p:nvGraphicFramePr>
        <p:xfrm>
          <a:off x="5762625" y="840381"/>
          <a:ext cx="6429375" cy="4553063"/>
        </p:xfrm>
        <a:graphic>
          <a:graphicData uri="http://schemas.openxmlformats.org/drawingml/2006/table">
            <a:tbl>
              <a:tblPr/>
              <a:tblGrid>
                <a:gridCol w="2143125">
                  <a:extLst>
                    <a:ext uri="{9D8B030D-6E8A-4147-A177-3AD203B41FA5}">
                      <a16:colId xmlns="" xmlns:a16="http://schemas.microsoft.com/office/drawing/2014/main" val="4092079324"/>
                    </a:ext>
                  </a:extLst>
                </a:gridCol>
                <a:gridCol w="2143125">
                  <a:extLst>
                    <a:ext uri="{9D8B030D-6E8A-4147-A177-3AD203B41FA5}">
                      <a16:colId xmlns="" xmlns:a16="http://schemas.microsoft.com/office/drawing/2014/main" val="2688792279"/>
                    </a:ext>
                  </a:extLst>
                </a:gridCol>
                <a:gridCol w="2143125">
                  <a:extLst>
                    <a:ext uri="{9D8B030D-6E8A-4147-A177-3AD203B41FA5}">
                      <a16:colId xmlns="" xmlns:a16="http://schemas.microsoft.com/office/drawing/2014/main" val="1235865854"/>
                    </a:ext>
                  </a:extLst>
                </a:gridCol>
              </a:tblGrid>
              <a:tr h="718887">
                <a:tc>
                  <a:txBody>
                    <a:bodyPr/>
                    <a:lstStyle/>
                    <a:p>
                      <a:r>
                        <a:rPr lang="en-IN" sz="1600" b="1" dirty="0"/>
                        <a:t>album_1</a:t>
                      </a:r>
                    </a:p>
                    <a:p>
                      <a:r>
                        <a:rPr lang="en-IN" sz="1600" dirty="0"/>
                        <a:t>Are You Experienced?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album_2</a:t>
                      </a:r>
                    </a:p>
                    <a:p>
                      <a:r>
                        <a:rPr lang="en-IN" sz="1600" dirty="0"/>
                        <a:t>Are You Experienced?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 err="1"/>
                        <a:t>times_bought_together</a:t>
                      </a:r>
                      <a:endParaRPr lang="en-IN" sz="1600" b="1" dirty="0"/>
                    </a:p>
                    <a:p>
                      <a:r>
                        <a:rPr lang="en-IN" sz="1600" dirty="0"/>
                        <a:t>2118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580377088"/>
                  </a:ext>
                </a:extLst>
              </a:tr>
              <a:tr h="311363">
                <a:tc>
                  <a:txBody>
                    <a:bodyPr/>
                    <a:lstStyle/>
                    <a:p>
                      <a:r>
                        <a:rPr lang="en-IN" sz="1600" dirty="0"/>
                        <a:t>Greatest Hits I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Greatest Hits I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786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175578450"/>
                  </a:ext>
                </a:extLst>
              </a:tr>
              <a:tr h="311363">
                <a:tc>
                  <a:txBody>
                    <a:bodyPr/>
                    <a:lstStyle/>
                    <a:p>
                      <a:r>
                        <a:rPr lang="en-IN" sz="1600"/>
                        <a:t>Get Born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Get Born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626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241900531"/>
                  </a:ext>
                </a:extLst>
              </a:tr>
              <a:tr h="1015706">
                <a:tc>
                  <a:txBody>
                    <a:bodyPr/>
                    <a:lstStyle/>
                    <a:p>
                      <a:r>
                        <a:rPr lang="en-US" sz="1600" dirty="0"/>
                        <a:t>Pure Cult: The Best Of The Cult (For Rockers, Ravers, Lovers &amp; Sinners) [</a:t>
                      </a:r>
                      <a:r>
                        <a:rPr lang="en-US" sz="1600" dirty="0" err="1"/>
                        <a:t>uk</a:t>
                      </a:r>
                      <a:r>
                        <a:rPr lang="en-US" sz="1600" dirty="0"/>
                        <a:t>]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Pure Cult: The Best Of The Cult (For Rockers, Ravers, Lovers &amp; Sinners) [</a:t>
                      </a:r>
                      <a:r>
                        <a:rPr lang="en-US" sz="1600" dirty="0" err="1"/>
                        <a:t>uk</a:t>
                      </a:r>
                      <a:r>
                        <a:rPr lang="en-US" sz="1600" dirty="0"/>
                        <a:t>]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612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270949191"/>
                  </a:ext>
                </a:extLst>
              </a:tr>
              <a:tr h="311363">
                <a:tc>
                  <a:txBody>
                    <a:bodyPr/>
                    <a:lstStyle/>
                    <a:p>
                      <a:r>
                        <a:rPr lang="en-IN" sz="1600" dirty="0" err="1"/>
                        <a:t>Barulhinho</a:t>
                      </a:r>
                      <a:r>
                        <a:rPr lang="en-IN" sz="1600" dirty="0"/>
                        <a:t> Bom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 err="1"/>
                        <a:t>Barulhinho</a:t>
                      </a:r>
                      <a:r>
                        <a:rPr lang="en-IN" sz="1600" dirty="0"/>
                        <a:t> </a:t>
                      </a:r>
                      <a:r>
                        <a:rPr lang="en-IN" sz="1600" dirty="0" err="1"/>
                        <a:t>Bom</a:t>
                      </a:r>
                      <a:endParaRPr lang="en-IN" sz="1600" dirty="0"/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612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027126592"/>
                  </a:ext>
                </a:extLst>
              </a:tr>
              <a:tr h="311363">
                <a:tc>
                  <a:txBody>
                    <a:bodyPr/>
                    <a:lstStyle/>
                    <a:p>
                      <a:r>
                        <a:rPr lang="en-IN" sz="1600" dirty="0"/>
                        <a:t>The Cream Of Clapton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The Cream Of Clapton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580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941638802"/>
                  </a:ext>
                </a:extLst>
              </a:tr>
              <a:tr h="311363">
                <a:tc>
                  <a:txBody>
                    <a:bodyPr/>
                    <a:lstStyle/>
                    <a:p>
                      <a:r>
                        <a:rPr lang="en-IN" sz="1600"/>
                        <a:t>Faceless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Faceless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574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974241651"/>
                  </a:ext>
                </a:extLst>
              </a:tr>
              <a:tr h="546145">
                <a:tc>
                  <a:txBody>
                    <a:bodyPr/>
                    <a:lstStyle/>
                    <a:p>
                      <a:r>
                        <a:rPr lang="en-US" sz="1600"/>
                        <a:t>My Way: The Best Of Frank Sinatra [Disc 1]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My Way: The Best Of Frank Sinatra [Disc 1]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554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639512082"/>
                  </a:ext>
                </a:extLst>
              </a:tr>
              <a:tr h="311363">
                <a:tc>
                  <a:txBody>
                    <a:bodyPr/>
                    <a:lstStyle/>
                    <a:p>
                      <a:r>
                        <a:rPr lang="en-IN" sz="1600"/>
                        <a:t>Miles Ahead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Miles Ahead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546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825344191"/>
                  </a:ext>
                </a:extLst>
              </a:tr>
              <a:tr h="311363">
                <a:tc>
                  <a:txBody>
                    <a:bodyPr/>
                    <a:lstStyle/>
                    <a:p>
                      <a:r>
                        <a:rPr lang="en-IN" sz="1600"/>
                        <a:t>News Of The World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News Of The World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530</a:t>
                      </a:r>
                    </a:p>
                  </a:txBody>
                  <a:tcPr marL="59653" marR="59653" marT="29827" marB="298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71663479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09C57419-575F-9F73-2EA4-86B7D31F26C5}"/>
              </a:ext>
            </a:extLst>
          </p:cNvPr>
          <p:cNvSpPr txBox="1"/>
          <p:nvPr/>
        </p:nvSpPr>
        <p:spPr>
          <a:xfrm>
            <a:off x="0" y="5393444"/>
            <a:ext cx="12192000" cy="1464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A2948390-71EA-75BC-21FF-B90AF42DCAD6}"/>
              </a:ext>
            </a:extLst>
          </p:cNvPr>
          <p:cNvSpPr txBox="1"/>
          <p:nvPr/>
        </p:nvSpPr>
        <p:spPr>
          <a:xfrm>
            <a:off x="0" y="5572125"/>
            <a:ext cx="12192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Speaking of a genre that was bought together with another genre, Rock was bought with Rock most number of times. So cross-selling initiatives should be taken for people who buy Rock tracks together.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Speaking of album affinity, tracks from the same album were bought the top ten times, so discount on full albums should be promoted.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9364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695D2A4-D1C9-8AC9-3BC2-B73366848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000" y="-1"/>
            <a:ext cx="7560000" cy="720000"/>
          </a:xfrm>
        </p:spPr>
        <p:txBody>
          <a:bodyPr>
            <a:normAutofit fontScale="90000"/>
          </a:bodyPr>
          <a:lstStyle/>
          <a:p>
            <a:r>
              <a:rPr lang="en-US" dirty="0"/>
              <a:t>Churn rates by region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E03CE743-E487-B80E-2A5F-504B84F1575F}"/>
              </a:ext>
            </a:extLst>
          </p:cNvPr>
          <p:cNvSpPr txBox="1"/>
          <p:nvPr/>
        </p:nvSpPr>
        <p:spPr>
          <a:xfrm>
            <a:off x="6496335" y="1134044"/>
            <a:ext cx="532717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Speaking of countries having a decent number of total customers, Canada has the lowest churn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USA has the highest number of total customers, and a decent churn rate of 15.38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Germany has 4 customers out of which 2 are churned, which can be considered concerning.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France/Brazil have a churn rate of 40, which should be checked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There are countries with 100 percent churn rate but that does not tell a lot because they had only one customer.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Similarly, there are countries with 0 churn rate but that does not tell a lot either because they have only 1 or 2 customers.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F5420CA4-D8DE-B592-6653-5C850F61FE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489" y="1134044"/>
            <a:ext cx="5400000" cy="34315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59803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A21020C-2BED-170B-5410-321C9324F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000" y="-1"/>
            <a:ext cx="7560000" cy="720000"/>
          </a:xfrm>
        </p:spPr>
        <p:txBody>
          <a:bodyPr>
            <a:normAutofit fontScale="90000"/>
          </a:bodyPr>
          <a:lstStyle/>
          <a:p>
            <a:r>
              <a:rPr lang="en-US" dirty="0"/>
              <a:t>Region wise purchase behavior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="" xmlns:a16="http://schemas.microsoft.com/office/drawing/2014/main" id="{F126E580-E9C0-A352-A033-C7B5F82680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7821660"/>
              </p:ext>
            </p:extLst>
          </p:nvPr>
        </p:nvGraphicFramePr>
        <p:xfrm>
          <a:off x="0" y="720000"/>
          <a:ext cx="6500814" cy="6156072"/>
        </p:xfrm>
        <a:graphic>
          <a:graphicData uri="http://schemas.openxmlformats.org/drawingml/2006/table">
            <a:tbl>
              <a:tblPr/>
              <a:tblGrid>
                <a:gridCol w="1083469">
                  <a:extLst>
                    <a:ext uri="{9D8B030D-6E8A-4147-A177-3AD203B41FA5}">
                      <a16:colId xmlns="" xmlns:a16="http://schemas.microsoft.com/office/drawing/2014/main" val="1681097260"/>
                    </a:ext>
                  </a:extLst>
                </a:gridCol>
                <a:gridCol w="1083469">
                  <a:extLst>
                    <a:ext uri="{9D8B030D-6E8A-4147-A177-3AD203B41FA5}">
                      <a16:colId xmlns="" xmlns:a16="http://schemas.microsoft.com/office/drawing/2014/main" val="2274693580"/>
                    </a:ext>
                  </a:extLst>
                </a:gridCol>
                <a:gridCol w="1083469">
                  <a:extLst>
                    <a:ext uri="{9D8B030D-6E8A-4147-A177-3AD203B41FA5}">
                      <a16:colId xmlns="" xmlns:a16="http://schemas.microsoft.com/office/drawing/2014/main" val="659595899"/>
                    </a:ext>
                  </a:extLst>
                </a:gridCol>
                <a:gridCol w="1083469">
                  <a:extLst>
                    <a:ext uri="{9D8B030D-6E8A-4147-A177-3AD203B41FA5}">
                      <a16:colId xmlns="" xmlns:a16="http://schemas.microsoft.com/office/drawing/2014/main" val="639348669"/>
                    </a:ext>
                  </a:extLst>
                </a:gridCol>
                <a:gridCol w="1083469">
                  <a:extLst>
                    <a:ext uri="{9D8B030D-6E8A-4147-A177-3AD203B41FA5}">
                      <a16:colId xmlns="" xmlns:a16="http://schemas.microsoft.com/office/drawing/2014/main" val="4089807462"/>
                    </a:ext>
                  </a:extLst>
                </a:gridCol>
                <a:gridCol w="1083469">
                  <a:extLst>
                    <a:ext uri="{9D8B030D-6E8A-4147-A177-3AD203B41FA5}">
                      <a16:colId xmlns="" xmlns:a16="http://schemas.microsoft.com/office/drawing/2014/main" val="4199670325"/>
                    </a:ext>
                  </a:extLst>
                </a:gridCol>
              </a:tblGrid>
              <a:tr h="738846">
                <a:tc>
                  <a:txBody>
                    <a:bodyPr/>
                    <a:lstStyle/>
                    <a:p>
                      <a:r>
                        <a:rPr lang="en-IN" sz="1100" b="1" dirty="0"/>
                        <a:t>region</a:t>
                      </a:r>
                    </a:p>
                    <a:p>
                      <a:endParaRPr lang="en-IN" sz="1100" dirty="0"/>
                    </a:p>
                    <a:p>
                      <a:r>
                        <a:rPr lang="en-IN" sz="1100" dirty="0"/>
                        <a:t>USA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 dirty="0" err="1"/>
                        <a:t>total_customers</a:t>
                      </a:r>
                      <a:endParaRPr lang="en-IN" sz="1100" b="1" dirty="0"/>
                    </a:p>
                    <a:p>
                      <a:r>
                        <a:rPr lang="en-IN" sz="1100" dirty="0"/>
                        <a:t>13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 dirty="0" err="1"/>
                        <a:t>total_orders</a:t>
                      </a:r>
                      <a:endParaRPr lang="en-IN" sz="1100" b="1" dirty="0"/>
                    </a:p>
                    <a:p>
                      <a:endParaRPr lang="en-IN" sz="1100" dirty="0"/>
                    </a:p>
                    <a:p>
                      <a:r>
                        <a:rPr lang="en-IN" sz="1100" dirty="0"/>
                        <a:t>131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 dirty="0" err="1"/>
                        <a:t>total_revenue</a:t>
                      </a:r>
                      <a:endParaRPr lang="en-IN" sz="1100" b="1" dirty="0"/>
                    </a:p>
                    <a:p>
                      <a:endParaRPr lang="en-IN" sz="1100" dirty="0"/>
                    </a:p>
                    <a:p>
                      <a:r>
                        <a:rPr lang="en-IN" sz="1100" dirty="0"/>
                        <a:t>1040.49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 dirty="0" err="1"/>
                        <a:t>avg_order_value</a:t>
                      </a:r>
                      <a:endParaRPr lang="en-IN" sz="1100" b="1" dirty="0"/>
                    </a:p>
                    <a:p>
                      <a:r>
                        <a:rPr lang="en-IN" sz="1100" dirty="0"/>
                        <a:t>7.94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 dirty="0" err="1"/>
                        <a:t>avg_purchase_frequency</a:t>
                      </a:r>
                      <a:endParaRPr lang="en-IN" sz="1100" b="1" dirty="0"/>
                    </a:p>
                    <a:p>
                      <a:endParaRPr lang="en-IN" sz="1100" dirty="0"/>
                    </a:p>
                    <a:p>
                      <a:r>
                        <a:rPr lang="en-IN" sz="1100" dirty="0"/>
                        <a:t>10.08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34051614"/>
                  </a:ext>
                </a:extLst>
              </a:tr>
              <a:tr h="232999">
                <a:tc>
                  <a:txBody>
                    <a:bodyPr/>
                    <a:lstStyle/>
                    <a:p>
                      <a:r>
                        <a:rPr lang="en-IN" sz="1100"/>
                        <a:t>Canada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8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76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535.59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7.05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9.50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698424821"/>
                  </a:ext>
                </a:extLst>
              </a:tr>
              <a:tr h="232999">
                <a:tc>
                  <a:txBody>
                    <a:bodyPr/>
                    <a:lstStyle/>
                    <a:p>
                      <a:r>
                        <a:rPr lang="en-IN" sz="1100"/>
                        <a:t>Brazil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5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61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427.68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7.01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12.20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482758785"/>
                  </a:ext>
                </a:extLst>
              </a:tr>
              <a:tr h="232999">
                <a:tc>
                  <a:txBody>
                    <a:bodyPr/>
                    <a:lstStyle/>
                    <a:p>
                      <a:r>
                        <a:rPr lang="en-IN" sz="1100"/>
                        <a:t>France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5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50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389.07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7.78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10.00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548617637"/>
                  </a:ext>
                </a:extLst>
              </a:tr>
              <a:tr h="232999">
                <a:tc>
                  <a:txBody>
                    <a:bodyPr/>
                    <a:lstStyle/>
                    <a:p>
                      <a:r>
                        <a:rPr lang="en-IN" sz="1100"/>
                        <a:t>Germany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4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41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334.62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8.16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10.25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22881564"/>
                  </a:ext>
                </a:extLst>
              </a:tr>
              <a:tr h="407748">
                <a:tc>
                  <a:txBody>
                    <a:bodyPr/>
                    <a:lstStyle/>
                    <a:p>
                      <a:r>
                        <a:rPr lang="en-IN" sz="1100"/>
                        <a:t>Czech Republic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2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30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273.24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9.11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15.00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742677988"/>
                  </a:ext>
                </a:extLst>
              </a:tr>
              <a:tr h="407748">
                <a:tc>
                  <a:txBody>
                    <a:bodyPr/>
                    <a:lstStyle/>
                    <a:p>
                      <a:r>
                        <a:rPr lang="en-IN" sz="1100"/>
                        <a:t>United Kingdom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3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28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245.52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8.77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9.33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357360315"/>
                  </a:ext>
                </a:extLst>
              </a:tr>
              <a:tr h="232999">
                <a:tc>
                  <a:txBody>
                    <a:bodyPr/>
                    <a:lstStyle/>
                    <a:p>
                      <a:r>
                        <a:rPr lang="en-IN" sz="1100"/>
                        <a:t>Portugal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2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29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185.13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6.38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14.50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915864217"/>
                  </a:ext>
                </a:extLst>
              </a:tr>
              <a:tr h="232999">
                <a:tc>
                  <a:txBody>
                    <a:bodyPr/>
                    <a:lstStyle/>
                    <a:p>
                      <a:r>
                        <a:rPr lang="en-IN" sz="1100"/>
                        <a:t>India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2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21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183.15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8.72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10.50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81668562"/>
                  </a:ext>
                </a:extLst>
              </a:tr>
              <a:tr h="232999">
                <a:tc>
                  <a:txBody>
                    <a:bodyPr/>
                    <a:lstStyle/>
                    <a:p>
                      <a:r>
                        <a:rPr lang="en-IN" sz="1100"/>
                        <a:t>Ireland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13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114.84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8.83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13.00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245979565"/>
                  </a:ext>
                </a:extLst>
              </a:tr>
              <a:tr h="232999">
                <a:tc>
                  <a:txBody>
                    <a:bodyPr/>
                    <a:lstStyle/>
                    <a:p>
                      <a:r>
                        <a:rPr lang="en-IN" sz="1100"/>
                        <a:t>Spain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11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98.01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8.91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11.00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42768206"/>
                  </a:ext>
                </a:extLst>
              </a:tr>
              <a:tr h="232999">
                <a:tc>
                  <a:txBody>
                    <a:bodyPr/>
                    <a:lstStyle/>
                    <a:p>
                      <a:r>
                        <a:rPr lang="en-IN" sz="1100"/>
                        <a:t>Chile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13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97.02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7.46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13.00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532783442"/>
                  </a:ext>
                </a:extLst>
              </a:tr>
              <a:tr h="232999">
                <a:tc>
                  <a:txBody>
                    <a:bodyPr/>
                    <a:lstStyle/>
                    <a:p>
                      <a:r>
                        <a:rPr lang="en-IN" sz="1100"/>
                        <a:t>Australia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81.18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8.12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10.00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778043799"/>
                  </a:ext>
                </a:extLst>
              </a:tr>
              <a:tr h="232999">
                <a:tc>
                  <a:txBody>
                    <a:bodyPr/>
                    <a:lstStyle/>
                    <a:p>
                      <a:r>
                        <a:rPr lang="en-IN" sz="1100"/>
                        <a:t>Finland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11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79.20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7.20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11.00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257724143"/>
                  </a:ext>
                </a:extLst>
              </a:tr>
              <a:tr h="232999">
                <a:tc>
                  <a:txBody>
                    <a:bodyPr/>
                    <a:lstStyle/>
                    <a:p>
                      <a:r>
                        <a:rPr lang="en-IN" sz="1100"/>
                        <a:t>Hungary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78.21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7.82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10.00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983047862"/>
                  </a:ext>
                </a:extLst>
              </a:tr>
              <a:tr h="232999">
                <a:tc>
                  <a:txBody>
                    <a:bodyPr/>
                    <a:lstStyle/>
                    <a:p>
                      <a:r>
                        <a:rPr lang="en-IN" sz="1100"/>
                        <a:t>Poland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76.23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7.62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10.00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71458007"/>
                  </a:ext>
                </a:extLst>
              </a:tr>
              <a:tr h="232999">
                <a:tc>
                  <a:txBody>
                    <a:bodyPr/>
                    <a:lstStyle/>
                    <a:p>
                      <a:r>
                        <a:rPr lang="en-IN" sz="1100"/>
                        <a:t>Sweden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75.24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7.52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10.00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751945359"/>
                  </a:ext>
                </a:extLst>
              </a:tr>
              <a:tr h="232999">
                <a:tc>
                  <a:txBody>
                    <a:bodyPr/>
                    <a:lstStyle/>
                    <a:p>
                      <a:r>
                        <a:rPr lang="en-IN" sz="1100"/>
                        <a:t>Norway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9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72.27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8.03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9.00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777932812"/>
                  </a:ext>
                </a:extLst>
              </a:tr>
              <a:tr h="232999">
                <a:tc>
                  <a:txBody>
                    <a:bodyPr/>
                    <a:lstStyle/>
                    <a:p>
                      <a:r>
                        <a:rPr lang="en-IN" sz="1100"/>
                        <a:t>Austria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9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69.30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7.70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9.00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746114520"/>
                  </a:ext>
                </a:extLst>
              </a:tr>
              <a:tr h="407748">
                <a:tc>
                  <a:txBody>
                    <a:bodyPr/>
                    <a:lstStyle/>
                    <a:p>
                      <a:r>
                        <a:rPr lang="en-IN" sz="1100"/>
                        <a:t>Netherlands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65.34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6.53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10.00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800263181"/>
                  </a:ext>
                </a:extLst>
              </a:tr>
              <a:tr h="232999">
                <a:tc>
                  <a:txBody>
                    <a:bodyPr/>
                    <a:lstStyle/>
                    <a:p>
                      <a:r>
                        <a:rPr lang="en-IN" sz="1100"/>
                        <a:t>Belgium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7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60.39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8.63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7.00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530582098"/>
                  </a:ext>
                </a:extLst>
              </a:tr>
              <a:tr h="232999">
                <a:tc>
                  <a:txBody>
                    <a:bodyPr/>
                    <a:lstStyle/>
                    <a:p>
                      <a:r>
                        <a:rPr lang="en-IN" sz="1100"/>
                        <a:t>Italy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1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9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50.49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/>
                        <a:t>5.61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9.00</a:t>
                      </a:r>
                    </a:p>
                  </a:txBody>
                  <a:tcPr marL="56061" marR="56061" marT="28031" marB="280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51036516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E75C15F1-1583-B668-EAC1-9582055B9D97}"/>
              </a:ext>
            </a:extLst>
          </p:cNvPr>
          <p:cNvSpPr txBox="1"/>
          <p:nvPr/>
        </p:nvSpPr>
        <p:spPr>
          <a:xfrm>
            <a:off x="6500813" y="1042988"/>
            <a:ext cx="569118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USA has the highest total revenue, total orders and total customers.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Czech Republic has performed really well considering average order value per invoice and average purchase frequency per customer (number of invoices per customer), even though it only has 2 customers.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should be advertisements and special deals for countries with only 1 or 2 customers to promote more engagement.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5785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BFFC186-0BA5-CFEA-6D86-8775F25C1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000" y="0"/>
            <a:ext cx="7560000" cy="720000"/>
          </a:xfrm>
        </p:spPr>
        <p:txBody>
          <a:bodyPr>
            <a:normAutofit fontScale="90000"/>
          </a:bodyPr>
          <a:lstStyle/>
          <a:p>
            <a:r>
              <a:rPr lang="en-US" dirty="0"/>
              <a:t>Customer segments based on purchase history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8B9FCDC-D188-4BC2-1F66-8E1595B6D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6920" y="1271588"/>
            <a:ext cx="6355080" cy="5586411"/>
          </a:xfrm>
        </p:spPr>
        <p:txBody>
          <a:bodyPr>
            <a:normAutofit fontScale="92500" lnSpcReduction="20000"/>
          </a:bodyPr>
          <a:lstStyle/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Customers were segmentized based on frequency (average days between purchases), total spent and total purchases (high value, low value and moderate value), and churn </a:t>
            </a:r>
          </a:p>
          <a:p>
            <a:pPr marL="228600" indent="-228600">
              <a:lnSpc>
                <a:spcPct val="115000"/>
              </a:lnSpc>
              <a:buNone/>
              <a:tabLst>
                <a:tab pos="228600" algn="l"/>
                <a:tab pos="457200" algn="l"/>
              </a:tabLst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status (active, churned, at risk).</a:t>
            </a:r>
          </a:p>
          <a:p>
            <a:pPr marL="228600" indent="-228600">
              <a:lnSpc>
                <a:spcPct val="115000"/>
              </a:lnSpc>
              <a:buNone/>
              <a:tabLst>
                <a:tab pos="228600" algn="l"/>
                <a:tab pos="457200" algn="l"/>
              </a:tabLst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Most customers who are churned belong to the moderate value segment.</a:t>
            </a:r>
          </a:p>
          <a:p>
            <a:pPr marL="228600" indent="-228600">
              <a:lnSpc>
                <a:spcPct val="115000"/>
              </a:lnSpc>
              <a:buNone/>
              <a:tabLst>
                <a:tab pos="228600" algn="l"/>
                <a:tab pos="457200" algn="l"/>
              </a:tabLst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Customers belonging to the high value segment are usually active.</a:t>
            </a:r>
          </a:p>
          <a:p>
            <a:pPr marL="228600" indent="-228600">
              <a:lnSpc>
                <a:spcPct val="115000"/>
              </a:lnSpc>
              <a:buNone/>
              <a:tabLst>
                <a:tab pos="228600" algn="l"/>
                <a:tab pos="457200" algn="l"/>
              </a:tabLst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Most customers belong to the high frequency segment.</a:t>
            </a:r>
          </a:p>
          <a:p>
            <a:pPr marL="45720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IN" sz="1800" kern="1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None of the customers belonging to the low frequency or moderate frequency segments are churned. This can be because buying after a lot of days made their latest order date in the past 6 months.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5712BEC6-41D3-5475-0382-CCF8C47F8B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71" y="1271588"/>
            <a:ext cx="5400000" cy="481117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41829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5C09D10-BD61-CE6C-7F56-907EA453D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000" y="0"/>
            <a:ext cx="7560000" cy="720000"/>
          </a:xfrm>
        </p:spPr>
        <p:txBody>
          <a:bodyPr>
            <a:normAutofit fontScale="90000"/>
          </a:bodyPr>
          <a:lstStyle/>
          <a:p>
            <a:r>
              <a:rPr lang="en-US" dirty="0"/>
              <a:t>recommendations</a:t>
            </a:r>
            <a:endParaRPr lang="en-IN" dirty="0"/>
          </a:p>
        </p:txBody>
      </p:sp>
      <p:pic>
        <p:nvPicPr>
          <p:cNvPr id="4" name="Picture 3" descr="3D stairs design">
            <a:extLst>
              <a:ext uri="{FF2B5EF4-FFF2-40B4-BE49-F238E27FC236}">
                <a16:creationId xmlns="" xmlns:a16="http://schemas.microsoft.com/office/drawing/2014/main" id="{6D867026-0C79-7471-FEEF-95B904FEEF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7" b="12507"/>
          <a:stretch>
            <a:fillRect/>
          </a:stretch>
        </p:blipFill>
        <p:spPr>
          <a:xfrm>
            <a:off x="211540" y="1125077"/>
            <a:ext cx="11470944" cy="541219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BFCC6B0-8F9C-89F9-A7C3-D9CA45C4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285876"/>
            <a:ext cx="5759355" cy="3872978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chemeClr val="bg1"/>
                </a:solidFill>
              </a:rPr>
              <a:t>Exclusive deals and advertisements in countries with less total customers.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Cross-selling initiatives, especially in popular genres like rock where people buy multiple tracks. Discounts on full albums. 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Win back discounts and incentives for churned customers, retention campaigns (like points system, exciting deals) for at risk customers, and loyalty programs for active customers (like personal offers). 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Survey feedbacks for countries with high churn rates. 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Advertisement of tracks/albums which have lesser reach (distinct customers) but high total sales. 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5225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C127DB4-F2DD-356C-F244-73737A517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000" y="0"/>
            <a:ext cx="7560000" cy="720000"/>
          </a:xfrm>
        </p:spPr>
        <p:txBody>
          <a:bodyPr>
            <a:normAutofit fontScale="90000"/>
          </a:bodyPr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5C3802A-EAE8-A199-1F76-53BA11C1A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2988" y="1471614"/>
            <a:ext cx="10044112" cy="2457449"/>
          </a:xfrm>
        </p:spPr>
        <p:txBody>
          <a:bodyPr/>
          <a:lstStyle/>
          <a:p>
            <a:r>
              <a:rPr lang="en-US" dirty="0"/>
              <a:t>Major work needs to be done on the countries with 1 or 2 customers to increase engagement. </a:t>
            </a:r>
          </a:p>
          <a:p>
            <a:endParaRPr lang="en-US" dirty="0"/>
          </a:p>
          <a:p>
            <a:r>
              <a:rPr lang="en-US" dirty="0"/>
              <a:t>Countries like Czech Republic should be given priority because of less customers but high potential.</a:t>
            </a:r>
          </a:p>
          <a:p>
            <a:endParaRPr lang="en-US" dirty="0"/>
          </a:p>
          <a:p>
            <a:r>
              <a:rPr lang="en-US" dirty="0"/>
              <a:t>Focus on Rock should be kept the highest, be it cross-selling or advertising.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85DB30D2-C7C6-6E00-5717-B201E2D04F0E}"/>
              </a:ext>
            </a:extLst>
          </p:cNvPr>
          <p:cNvSpPr txBox="1"/>
          <p:nvPr/>
        </p:nvSpPr>
        <p:spPr>
          <a:xfrm>
            <a:off x="342900" y="3929063"/>
            <a:ext cx="11544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By leveraging these insights, the company can optimize marketing efforts, improve customer retention, and increase profitability. Implementing the recommendations will drive data-driven decision-making for long-term success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049063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657F69E0-C4B0-4BEC-A689-4F8D877F05D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>
              <a:alpha val="5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Santa Claus making snow angel">
            <a:extLst>
              <a:ext uri="{FF2B5EF4-FFF2-40B4-BE49-F238E27FC236}">
                <a16:creationId xmlns="" xmlns:a16="http://schemas.microsoft.com/office/drawing/2014/main" id="{7A6D898D-E22B-BBC4-A3D1-FD54757C633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61" r="-1" b="3630"/>
          <a:stretch>
            <a:fillRect/>
          </a:stretch>
        </p:blipFill>
        <p:spPr>
          <a:xfrm>
            <a:off x="0" y="10"/>
            <a:ext cx="12188930" cy="68579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4A2AADF-AB87-250F-58E9-4D8109C1F9A7}"/>
              </a:ext>
            </a:extLst>
          </p:cNvPr>
          <p:cNvSpPr txBox="1"/>
          <p:nvPr/>
        </p:nvSpPr>
        <p:spPr>
          <a:xfrm>
            <a:off x="1524000" y="1122363"/>
            <a:ext cx="9144000" cy="30632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="" xmlns:a16="http://schemas.microsoft.com/office/drawing/2014/main" id="{9F6380B4-6A1C-481E-8408-B4E6C75B9B8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rgbClr val="FFFFFF">
                <a:alpha val="75000"/>
              </a:srgbClr>
            </a:solidFill>
            <a:round/>
            <a:extLst>
              <a:ext uri="{C807C97D-BFC1-408E-A445-0C87EB9F89A2}">
                <ask:lineSketchStyleProps xmlns=""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497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arcel">
  <a:themeElements>
    <a:clrScheme name="Parcel">
      <a:dk1>
        <a:srgbClr val="FFFFFF"/>
      </a:dk1>
      <a:lt1>
        <a:srgbClr val="0D1B2A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25040</TotalTime>
  <Words>1543</Words>
  <Application>Microsoft Office PowerPoint</Application>
  <PresentationFormat>Widescreen</PresentationFormat>
  <Paragraphs>384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Gill Sans MT</vt:lpstr>
      <vt:lpstr>Gill Sans MT (Headings)</vt:lpstr>
      <vt:lpstr>Symbol</vt:lpstr>
      <vt:lpstr>Times New Roman</vt:lpstr>
      <vt:lpstr>Parcel</vt:lpstr>
      <vt:lpstr>Chinook music store project  By  ankur Choudhary</vt:lpstr>
      <vt:lpstr>About chinook</vt:lpstr>
      <vt:lpstr>KPI</vt:lpstr>
      <vt:lpstr>Executive Summary</vt:lpstr>
      <vt:lpstr>Problem Statement</vt:lpstr>
      <vt:lpstr>Data schema</vt:lpstr>
      <vt:lpstr>Data description</vt:lpstr>
      <vt:lpstr>Data description(continued) </vt:lpstr>
      <vt:lpstr>Data description(continued)</vt:lpstr>
      <vt:lpstr>Most popular genres in America based on sales</vt:lpstr>
      <vt:lpstr>Most popular genres outside America based on sales</vt:lpstr>
      <vt:lpstr>Affinity analysis</vt:lpstr>
      <vt:lpstr>Churn rates by region</vt:lpstr>
      <vt:lpstr>Region wise purchase behavior</vt:lpstr>
      <vt:lpstr>Customer segments based on purchase history</vt:lpstr>
      <vt:lpstr>recommendations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Chinook music store project</dc:title>
  <dc:creator>irman.sharma0304@gmail.com</dc:creator>
  <cp:lastModifiedBy>Microsoft account</cp:lastModifiedBy>
  <cp:revision>15</cp:revision>
  <dcterms:created xsi:type="dcterms:W3CDTF">2025-03-14T20:13:51Z</dcterms:created>
  <dcterms:modified xsi:type="dcterms:W3CDTF">2026-06-18T09:53:07Z</dcterms:modified>
</cp:coreProperties>
</file>